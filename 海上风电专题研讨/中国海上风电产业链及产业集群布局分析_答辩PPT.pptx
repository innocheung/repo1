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1049463b-ee03-2956-251d-3365f9bed01e}">
          <p14:sldIdLst>
            <p14:sldId id="256"/>
          </p14:sldIdLst>
        </p14:section>
        <p14:section name="提纲" id="{ec17168e-193c-1c51-0aaa-a92e96e53716}">
          <p14:sldIdLst>
            <p14:sldId id="257"/>
          </p14:sldIdLst>
        </p14:section>
        <p14:section name="发展现状" id="{e1794807-5fb5-9f36-96ae-d72424e91261}">
          <p14:sldIdLst>
            <p14:sldId id="258"/>
            <p14:sldId id="259"/>
            <p14:sldId id="260"/>
          </p14:sldIdLst>
        </p14:section>
        <p14:section name="产业链分析" id="{7373f480-ee24-e29f-86a3-bd4ef2f0b711}">
          <p14:sldIdLst>
            <p14:sldId id="261"/>
            <p14:sldId id="262"/>
          </p14:sldIdLst>
        </p14:section>
        <p14:section name="集群布局" id="{d4a9fbc0-d728-200b-62a1-663600a8ae47}">
          <p14:sldIdLst>
            <p14:sldId id="263"/>
            <p14:sldId id="264"/>
            <p14:sldId id="265"/>
          </p14:sldIdLst>
        </p14:section>
        <p14:section name="制约因素" id="{14ad6239-2b54-ec6e-fdf2-57b303799409}">
          <p14:sldIdLst>
            <p14:sldId id="266"/>
          </p14:sldIdLst>
        </p14:section>
        <p14:section name="趋势与建议" id="{5454b56d-8645-499e-7c97-ad34e51f9148}">
          <p14:sldIdLst>
            <p14:sldId id="267"/>
            <p14:sldId id="268"/>
          </p14:sldIdLst>
        </p14:section>
        <p14:section name="结论" id="{c0652a4a-ce4f-2e02-09f9-c7d5039b92d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733"/>
                </a:solidFill>
                <a:latin typeface="+mn-lt"/>
              </a:rPr>
              <a:t>2019—2025年海上风电年度新增并网容量（万千瓦）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新增并网</c:v>
                </c:pt>
              </c:strCache>
            </c:strRef>
          </c:tx>
          <c:spPr>
            <a:solidFill>
              <a:srgbClr val="1F6F9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198</c:v>
                </c:pt>
                <c:pt idx="1">
                  <c:v>306</c:v>
                </c:pt>
                <c:pt idx="2">
                  <c:v>1690</c:v>
                </c:pt>
                <c:pt idx="3">
                  <c:v>516</c:v>
                </c:pt>
                <c:pt idx="4">
                  <c:v>633</c:v>
                </c:pt>
                <c:pt idx="5">
                  <c:v>404</c:v>
                </c:pt>
                <c:pt idx="6">
                  <c:v>659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BD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</c:scaling>
        <c:delete val="0"/>
        <c:axPos val="l"/>
        <c:majorGridlines>
          <c:spPr>
            <a:ln w="6350" cap="flat">
              <a:solidFill>
                <a:srgbClr val="D9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733"/>
                </a:solidFill>
                <a:latin typeface="+mn-lt"/>
              </a:rPr>
              <a:t>海上风电占全国风电新增比重（%）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C057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25.9</c:v>
                </c:pt>
                <c:pt idx="1">
                  <c:v>10.3</c:v>
                </c:pt>
                <c:pt idx="2">
                  <c:v>9</c:v>
                </c:pt>
                <c:pt idx="3">
                  <c:v>6.5</c:v>
                </c:pt>
                <c:pt idx="4">
                  <c:v>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BD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D9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各位老师好！我们小组的题目是《中国海上风电产业链及产业集群布局分析》。我们以海上风电为前提、以技术问题为核心，从发展现状出发，重点分析制约条件，最后论述发展趋势。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汇报分为五个部分：发展现状、产业链分析、集群布局、制约因素、趋势与建议。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至2025年底，我国海上风电累计并网约4700万千瓦，连续5年全球第一。左图可以看到，2021年国补退出前出现“抢装”，新增1690万千瓦；进入平价阶段后年新增稳定在400万到700万千瓦。这说明我国海上风电增长具有明显的政策驱动特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进展有三条主线。一是大型化，单机从3兆瓦发展到12到18兆瓦主流，20兆瓦级已经吊装，因为单机越大，机位、基础和海缆越少，度电成本越低。二是基础深水化，从单桩到导管架再到漂浮式。三是送出柔直化，如东正负400千伏工程是亚洲首个海上柔直工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路线的选择由水深和离岸距离决定：40米以内用单桩，40到60米用导管架，再深用漂浮式；离岸超过约70公里，交流海缆充电电流过大，就要用柔性直流。各海域条件不同，江苏浅水、福建基岩、广东台风、渤海海冰，这也是后面集群分工的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产业链分为上游零部件、中游整机与海工装备、下游开发运维三段，特点是部件超大、装备重型、依港布局。风机约占投资四成，基础与施工约三成，这些海工环节占比高，是产业链依赖港口的原因。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整机、叶片、海缆和基础已达国际先进水平；短板集中在主轴承、高压大功率IGBT和设计仿真软件等“深层次”环节，共同特点是技术积累周期长、验证成本高。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群布局方面，“十四五”规划五大基地，“十五五”扩展到四大海域，形成沿海带状、依港集聚、苏粤双核的格局：盐城整机产能约占全国40%、叶片约20%；阳江并网约800万千瓦居地级市第一，2025年产业链产值超过187亿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从五个维度对集群做了定性评价。江苏和广东综合实力最强，但阶段不同：江苏产业链成熟但近海资源趋于饱和，需要转型；广东资源和产业兼备，处于上升期。沪浙技术创新突出，北部湾潜力大但基础较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为什么这样布局？最根本的是大部件物流：叶片超过120米、单桩超过2000吨，只能水运，必须“下线即装船”。再加上港口岸线、地方“资源换产业”政策和龙头企业带动。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约因素是分析重点。技术上，核心部件卡脖子、大型化验证不足、台风和腐蚀环境适应性有待提高、柔直和漂浮式成本高。政策市场上，用海约束趋紧，电价市场化后收益不确定，右图中海上风电占风电新增比重从25.9%降到4.2%。集群层面，同质化布局导致产能过剩和价格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趋势是大型化、深远海、柔直送出、海上风电加和产业出海。我们建议按四大海域统筹集群，推动差异化分工：江苏做整机和柔直，沪浙做研发和海缆，福建做强风机组和嵌岩施工，广东做抗台风和漂浮式，山东做海工装备，北部湾面向东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实施上分三步：近期到2027年，集群提质不扩量，加快核心部件验证；中期到2030年，推进深远海和漂浮式规模化示范；远期实现漂浮式商业化和多能融合。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总结：我国海上风电已形成完整产业链和沿海集群格局，下一步要补齐深层次短板，从“规模领先”走向“技术领先”。汇报完毕，恳请各位老师批评指正，谢谢！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标题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副标题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中国海上风电产业链及产业集群布局分析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标题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中国海上风电产业链及产业集群布局分析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海上风力发电专题研讨答辩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汇报人：姓名1  姓名2  姓名3  姓名4    东北电力大学 能源与动力工程学院</a:t>
            </a:r>
            <a:endParaRPr lang="en-US" sz="2000" dirty="0"/>
          </a:p>
        </p:txBody>
      </p:sp>
      <p:sp>
        <p:nvSpPr>
          <p:cNvPr id="4" name="cover-circle"/>
          <p:cNvSpPr/>
          <p:nvPr/>
        </p:nvSpPr>
        <p:spPr>
          <a:xfrm>
            <a:off x="731520" y="8229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ov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060704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汇报提纲</a:t>
            </a:r>
            <a:endParaRPr lang="en-US" sz="3200" dirty="0"/>
          </a:p>
        </p:txBody>
      </p:sp>
      <p:sp>
        <p:nvSpPr>
          <p:cNvPr id="4" name="agenda-card-01"/>
          <p:cNvSpPr/>
          <p:nvPr/>
        </p:nvSpPr>
        <p:spPr>
          <a:xfrm>
            <a:off x="548640" y="164592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genda-01-circle"/>
          <p:cNvSpPr/>
          <p:nvPr/>
        </p:nvSpPr>
        <p:spPr>
          <a:xfrm>
            <a:off x="1115568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genda-0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249424"/>
            <a:ext cx="438912" cy="438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发展现状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297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规模与关键技术进展</a:t>
            </a:r>
            <a:endParaRPr lang="en-US" sz="1400" dirty="0"/>
          </a:p>
        </p:txBody>
      </p:sp>
      <p:sp>
        <p:nvSpPr>
          <p:cNvPr id="10" name="agenda-card-02"/>
          <p:cNvSpPr/>
          <p:nvPr/>
        </p:nvSpPr>
        <p:spPr>
          <a:xfrm>
            <a:off x="2816352" y="164592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genda-02-circle"/>
          <p:cNvSpPr/>
          <p:nvPr/>
        </p:nvSpPr>
        <p:spPr>
          <a:xfrm>
            <a:off x="3383280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agenda-0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24942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99232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2999232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产业链分析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2999232" y="4297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结构、关键技术与国产化</a:t>
            </a:r>
            <a:endParaRPr lang="en-US" sz="1400" dirty="0"/>
          </a:p>
        </p:txBody>
      </p:sp>
      <p:sp>
        <p:nvSpPr>
          <p:cNvPr id="16" name="agenda-card-03"/>
          <p:cNvSpPr/>
          <p:nvPr/>
        </p:nvSpPr>
        <p:spPr>
          <a:xfrm>
            <a:off x="5084064" y="164592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agenda-03-circle"/>
          <p:cNvSpPr/>
          <p:nvPr/>
        </p:nvSpPr>
        <p:spPr>
          <a:xfrm>
            <a:off x="5650992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agenda-0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249424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66944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5266944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集群布局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5266944" y="4297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空间格局与形成机制</a:t>
            </a:r>
            <a:endParaRPr lang="en-US" sz="1400" dirty="0"/>
          </a:p>
        </p:txBody>
      </p:sp>
      <p:sp>
        <p:nvSpPr>
          <p:cNvPr id="22" name="agenda-card-04"/>
          <p:cNvSpPr/>
          <p:nvPr/>
        </p:nvSpPr>
        <p:spPr>
          <a:xfrm>
            <a:off x="7351776" y="164592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agenda-04-circle"/>
          <p:cNvSpPr/>
          <p:nvPr/>
        </p:nvSpPr>
        <p:spPr>
          <a:xfrm>
            <a:off x="7918704" y="2011680"/>
            <a:ext cx="914400" cy="9144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agenda-04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249424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534656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7534656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制约因素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7534656" y="4297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技术、政策、集群三层面</a:t>
            </a:r>
            <a:endParaRPr lang="en-US" sz="1400" dirty="0"/>
          </a:p>
        </p:txBody>
      </p:sp>
      <p:sp>
        <p:nvSpPr>
          <p:cNvPr id="28" name="agenda-card-05"/>
          <p:cNvSpPr/>
          <p:nvPr/>
        </p:nvSpPr>
        <p:spPr>
          <a:xfrm>
            <a:off x="9619488" y="1645920"/>
            <a:ext cx="2057400" cy="3840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agenda-05-circle"/>
          <p:cNvSpPr/>
          <p:nvPr/>
        </p:nvSpPr>
        <p:spPr>
          <a:xfrm>
            <a:off x="10186416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agenda-05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249424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802368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05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9802368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趋势与建议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9802368" y="4297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技术趋势与布局优化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规模全球第一，进入平价稳步发展期</a:t>
            </a:r>
            <a:endParaRPr lang="en-US" sz="3200" dirty="0"/>
          </a:p>
        </p:txBody>
      </p:sp>
      <p:graphicFrame>
        <p:nvGraphicFramePr>
          <p:cNvPr id="4" name="chart-new" descr=""/>
          <p:cNvGraphicFramePr/>
          <p:nvPr/>
        </p:nvGraphicFramePr>
        <p:xfrm>
          <a:off x="548640" y="132588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ush-note"/>
          <p:cNvSpPr txBox="1"/>
          <p:nvPr/>
        </p:nvSpPr>
        <p:spPr>
          <a:xfrm>
            <a:off x="370332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2021年国补退出前“抢装”</a:t>
            </a:r>
            <a:endParaRPr lang="en-US" sz="1200" dirty="0"/>
          </a:p>
        </p:txBody>
      </p:sp>
      <p:sp>
        <p:nvSpPr>
          <p:cNvPr id="6" name="stat-0"/>
          <p:cNvSpPr/>
          <p:nvPr/>
        </p:nvSpPr>
        <p:spPr>
          <a:xfrm>
            <a:off x="7680960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909560" y="1554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约4700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万千瓦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909560" y="2258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2025年底累计并网</a:t>
            </a:r>
            <a:endParaRPr lang="en-US" sz="1400" dirty="0"/>
          </a:p>
        </p:txBody>
      </p:sp>
      <p:sp>
        <p:nvSpPr>
          <p:cNvPr id="9" name="stat-1"/>
          <p:cNvSpPr/>
          <p:nvPr/>
        </p:nvSpPr>
        <p:spPr>
          <a:xfrm>
            <a:off x="7680960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09560" y="3154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5年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连续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累计并网规模全球第一</a:t>
            </a:r>
            <a:endParaRPr lang="en-US" sz="1400" dirty="0"/>
          </a:p>
        </p:txBody>
      </p:sp>
      <p:sp>
        <p:nvSpPr>
          <p:cNvPr id="12" name="stat-2"/>
          <p:cNvSpPr/>
          <p:nvPr/>
        </p:nvSpPr>
        <p:spPr>
          <a:xfrm>
            <a:off x="7680960" y="461772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09560" y="4754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20 MW级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单机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5458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已完成海上吊装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数据来源：国家能源局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三条技术主线：大型化、深水化、柔直化</a:t>
            </a:r>
            <a:endParaRPr lang="en-US" sz="3200" dirty="0"/>
          </a:p>
        </p:txBody>
      </p:sp>
      <p:sp>
        <p:nvSpPr>
          <p:cNvPr id="4" name="tech-card-0"/>
          <p:cNvSpPr/>
          <p:nvPr/>
        </p:nvSpPr>
        <p:spPr>
          <a:xfrm>
            <a:off x="54864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ch-0-circle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ech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848002"/>
            <a:ext cx="373075" cy="3730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645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机组大型化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974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 MW（2010东海大桥）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6～8 MW（2020前后）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12～18 MW（当前主流）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 MW级吊装、26 MW样机并网</a:t>
            </a:r>
            <a:endParaRPr lang="en-US" sz="1500" dirty="0"/>
          </a:p>
        </p:txBody>
      </p:sp>
      <p:sp>
        <p:nvSpPr>
          <p:cNvPr id="9" name="tech-card-1"/>
          <p:cNvSpPr/>
          <p:nvPr/>
        </p:nvSpPr>
        <p:spPr>
          <a:xfrm>
            <a:off x="429768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ch-1-circle"/>
          <p:cNvSpPr/>
          <p:nvPr/>
        </p:nvSpPr>
        <p:spPr>
          <a:xfrm>
            <a:off x="4572000" y="1645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tech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1848002"/>
            <a:ext cx="373075" cy="37307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32120" y="1645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基础深水化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6974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&lt; 40 m：单桩（直径 &gt; 10 m）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40～60 m：导管架 / 吸力筒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&gt; 60 m：漂浮式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引领号→观澜号→领航号(16 MW)</a:t>
            </a:r>
            <a:endParaRPr lang="en-US" sz="1500" dirty="0"/>
          </a:p>
        </p:txBody>
      </p:sp>
      <p:sp>
        <p:nvSpPr>
          <p:cNvPr id="14" name="tech-card-2"/>
          <p:cNvSpPr/>
          <p:nvPr/>
        </p:nvSpPr>
        <p:spPr>
          <a:xfrm>
            <a:off x="804672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ch-2-circle"/>
          <p:cNvSpPr/>
          <p:nvPr/>
        </p:nvSpPr>
        <p:spPr>
          <a:xfrm>
            <a:off x="8321040" y="1645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tech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1848002"/>
            <a:ext cx="373075" cy="37307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81160" y="1645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送出柔直化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6974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近海：35/66 kV集电 + 220 kV交流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离岸 &gt; 约70 km：充电电流过大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→ 柔性直流（VSC-HVDC）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如东 ±400 kV：亚洲首个海上柔直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因地制宜：水深和离岸距离决定技术路线</a:t>
            </a:r>
            <a:endParaRPr lang="en-US" sz="3200" dirty="0"/>
          </a:p>
        </p:txBody>
      </p:sp>
      <p:pic>
        <p:nvPicPr>
          <p:cNvPr id="4" name="tech-range" descr="/tmp/claude-0/-home-user-repo1/0a685774-457d-5669-ad23-f873f870951a/scratchpad/build/fig_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2467350"/>
          </a:xfrm>
          <a:prstGeom prst="rect">
            <a:avLst/>
          </a:prstGeom>
        </p:spPr>
      </p:pic>
      <p:sp>
        <p:nvSpPr>
          <p:cNvPr id="5" name="range-note"/>
          <p:cNvSpPr/>
          <p:nvPr/>
        </p:nvSpPr>
        <p:spPr>
          <a:xfrm>
            <a:off x="548640" y="4206240"/>
            <a:ext cx="6949440" cy="1600200"/>
          </a:xfrm>
          <a:prstGeom prst="roundRect">
            <a:avLst>
              <a:gd name="adj" fmla="val 6857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3434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关键阈值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水深 40 m / 60 m：单桩 → 导管架 → 漂浮式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离岸约 70 km：交流海缆充电电流过大 → 柔性直流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各海域条件决定集群技术特色</a:t>
            </a:r>
            <a:endParaRPr lang="en-US" sz="1800" dirty="0"/>
          </a:p>
        </p:txBody>
      </p:sp>
      <p:sp>
        <p:nvSpPr>
          <p:cNvPr id="8" name="sea-0"/>
          <p:cNvSpPr/>
          <p:nvPr/>
        </p:nvSpPr>
        <p:spPr>
          <a:xfrm>
            <a:off x="7863840" y="2011680"/>
            <a:ext cx="3749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4672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江苏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423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水深浅、砂土海床：大直径单桩，重视冲刷防护</a:t>
            </a:r>
            <a:endParaRPr lang="en-US" sz="1300" dirty="0"/>
          </a:p>
        </p:txBody>
      </p:sp>
      <p:sp>
        <p:nvSpPr>
          <p:cNvPr id="11" name="sea-1"/>
          <p:cNvSpPr/>
          <p:nvPr/>
        </p:nvSpPr>
        <p:spPr>
          <a:xfrm>
            <a:off x="7863840" y="3035808"/>
            <a:ext cx="3749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福建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34472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基岩埋深浅：嵌岩桩、导管架</a:t>
            </a:r>
            <a:endParaRPr lang="en-US" sz="1300" dirty="0"/>
          </a:p>
        </p:txBody>
      </p:sp>
      <p:sp>
        <p:nvSpPr>
          <p:cNvPr id="14" name="sea-2"/>
          <p:cNvSpPr/>
          <p:nvPr/>
        </p:nvSpPr>
        <p:spPr>
          <a:xfrm>
            <a:off x="7863840" y="4059936"/>
            <a:ext cx="3749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046720" y="4133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广东/北部湾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447141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水深大、台风多：抗台风机组、漂浮式</a:t>
            </a:r>
            <a:endParaRPr lang="en-US" sz="1300" dirty="0"/>
          </a:p>
        </p:txBody>
      </p:sp>
      <p:sp>
        <p:nvSpPr>
          <p:cNvPr id="17" name="sea-3"/>
          <p:cNvSpPr/>
          <p:nvPr/>
        </p:nvSpPr>
        <p:spPr>
          <a:xfrm>
            <a:off x="7863840" y="5084064"/>
            <a:ext cx="3749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0" y="51572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渤海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046720" y="54955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冬季海冰：抗冰锥基础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产业链：部件超大、装备重型、依港布局</a:t>
            </a:r>
            <a:endParaRPr lang="en-US" sz="3200" dirty="0"/>
          </a:p>
        </p:txBody>
      </p:sp>
      <p:sp>
        <p:nvSpPr>
          <p:cNvPr id="4" name="chain-head-0"/>
          <p:cNvSpPr/>
          <p:nvPr/>
        </p:nvSpPr>
        <p:spPr>
          <a:xfrm>
            <a:off x="548640" y="1371600"/>
            <a:ext cx="347472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上游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原材料与关键零部件</a:t>
            </a:r>
            <a:endParaRPr lang="en-US" sz="1400" dirty="0"/>
          </a:p>
        </p:txBody>
      </p:sp>
      <p:sp>
        <p:nvSpPr>
          <p:cNvPr id="6" name="chain-item-0-0"/>
          <p:cNvSpPr/>
          <p:nvPr/>
        </p:nvSpPr>
        <p:spPr>
          <a:xfrm>
            <a:off x="548640" y="2468880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钢材 · 稀土永磁 · 碳纤维</a:t>
            </a:r>
            <a:endParaRPr lang="en-US" sz="1500" dirty="0"/>
          </a:p>
        </p:txBody>
      </p:sp>
      <p:sp>
        <p:nvSpPr>
          <p:cNvPr id="8" name="chain-item-0-1"/>
          <p:cNvSpPr/>
          <p:nvPr/>
        </p:nvSpPr>
        <p:spPr>
          <a:xfrm>
            <a:off x="548640" y="3182112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18211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叶片 · 主轴承 · 齿轮箱</a:t>
            </a:r>
            <a:endParaRPr lang="en-US" sz="1500" dirty="0"/>
          </a:p>
        </p:txBody>
      </p:sp>
      <p:sp>
        <p:nvSpPr>
          <p:cNvPr id="10" name="chain-item-0-2"/>
          <p:cNvSpPr/>
          <p:nvPr/>
        </p:nvSpPr>
        <p:spPr>
          <a:xfrm>
            <a:off x="548640" y="3895344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89534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发电机 · 变流器(IGBT)</a:t>
            </a:r>
            <a:endParaRPr lang="en-US" sz="1500" dirty="0"/>
          </a:p>
        </p:txBody>
      </p:sp>
      <p:sp>
        <p:nvSpPr>
          <p:cNvPr id="12" name="chain-item-0-3"/>
          <p:cNvSpPr/>
          <p:nvPr/>
        </p:nvSpPr>
        <p:spPr>
          <a:xfrm>
            <a:off x="548640" y="4608576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铸锻件 · 变桨 / 偏航</a:t>
            </a:r>
            <a:endParaRPr lang="en-US" sz="1500" dirty="0"/>
          </a:p>
        </p:txBody>
      </p:sp>
      <p:sp>
        <p:nvSpPr>
          <p:cNvPr id="14" name="chain-arrow-0"/>
          <p:cNvSpPr/>
          <p:nvPr/>
        </p:nvSpPr>
        <p:spPr>
          <a:xfrm>
            <a:off x="4078224" y="1664208"/>
            <a:ext cx="164592" cy="329184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chain-head-1"/>
          <p:cNvSpPr/>
          <p:nvPr/>
        </p:nvSpPr>
        <p:spPr>
          <a:xfrm>
            <a:off x="4297680" y="1371600"/>
            <a:ext cx="34747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1371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中游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整机与海工装备</a:t>
            </a:r>
            <a:endParaRPr lang="en-US" sz="1400" dirty="0"/>
          </a:p>
        </p:txBody>
      </p:sp>
      <p:sp>
        <p:nvSpPr>
          <p:cNvPr id="17" name="chain-item-1-0"/>
          <p:cNvSpPr/>
          <p:nvPr/>
        </p:nvSpPr>
        <p:spPr>
          <a:xfrm>
            <a:off x="4297680" y="2468880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整机集成（链主）</a:t>
            </a:r>
            <a:endParaRPr lang="en-US" sz="1500" dirty="0"/>
          </a:p>
        </p:txBody>
      </p:sp>
      <p:sp>
        <p:nvSpPr>
          <p:cNvPr id="19" name="chain-item-1-1"/>
          <p:cNvSpPr/>
          <p:nvPr/>
        </p:nvSpPr>
        <p:spPr>
          <a:xfrm>
            <a:off x="4297680" y="3182112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26280" y="318211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单桩 / 导管架 / 漂浮式基础</a:t>
            </a:r>
            <a:endParaRPr lang="en-US" sz="1500" dirty="0"/>
          </a:p>
        </p:txBody>
      </p:sp>
      <p:sp>
        <p:nvSpPr>
          <p:cNvPr id="21" name="chain-item-1-2"/>
          <p:cNvSpPr/>
          <p:nvPr/>
        </p:nvSpPr>
        <p:spPr>
          <a:xfrm>
            <a:off x="4297680" y="3895344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389534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海缆 · 升压站 · 换流站</a:t>
            </a:r>
            <a:endParaRPr lang="en-US" sz="1500" dirty="0"/>
          </a:p>
        </p:txBody>
      </p:sp>
      <p:sp>
        <p:nvSpPr>
          <p:cNvPr id="23" name="chain-item-1-3"/>
          <p:cNvSpPr/>
          <p:nvPr/>
        </p:nvSpPr>
        <p:spPr>
          <a:xfrm>
            <a:off x="4297680" y="4608576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26280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安装船 · 施工吊装</a:t>
            </a:r>
            <a:endParaRPr lang="en-US" sz="1500" dirty="0"/>
          </a:p>
        </p:txBody>
      </p:sp>
      <p:sp>
        <p:nvSpPr>
          <p:cNvPr id="25" name="chain-arrow-1"/>
          <p:cNvSpPr/>
          <p:nvPr/>
        </p:nvSpPr>
        <p:spPr>
          <a:xfrm>
            <a:off x="7827264" y="1664208"/>
            <a:ext cx="164592" cy="329184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chain-head-2"/>
          <p:cNvSpPr/>
          <p:nvPr/>
        </p:nvSpPr>
        <p:spPr>
          <a:xfrm>
            <a:off x="8046720" y="1371600"/>
            <a:ext cx="3474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75320" y="1371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下游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开发、运营与服务</a:t>
            </a:r>
            <a:endParaRPr lang="en-US" sz="1400" dirty="0"/>
          </a:p>
        </p:txBody>
      </p:sp>
      <p:sp>
        <p:nvSpPr>
          <p:cNvPr id="28" name="chain-item-2-0"/>
          <p:cNvSpPr/>
          <p:nvPr/>
        </p:nvSpPr>
        <p:spPr>
          <a:xfrm>
            <a:off x="8046720" y="2468880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75320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央企主导开发投资</a:t>
            </a:r>
            <a:endParaRPr lang="en-US" sz="1500" dirty="0"/>
          </a:p>
        </p:txBody>
      </p:sp>
      <p:sp>
        <p:nvSpPr>
          <p:cNvPr id="30" name="chain-item-2-1"/>
          <p:cNvSpPr/>
          <p:nvPr/>
        </p:nvSpPr>
        <p:spPr>
          <a:xfrm>
            <a:off x="8046720" y="3182112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18211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并网送出 · 电力交易</a:t>
            </a:r>
            <a:endParaRPr lang="en-US" sz="1500" dirty="0"/>
          </a:p>
        </p:txBody>
      </p:sp>
      <p:sp>
        <p:nvSpPr>
          <p:cNvPr id="32" name="chain-item-2-2"/>
          <p:cNvSpPr/>
          <p:nvPr/>
        </p:nvSpPr>
        <p:spPr>
          <a:xfrm>
            <a:off x="8046720" y="3895344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75320" y="389534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运维船 · 智能监测</a:t>
            </a:r>
            <a:endParaRPr lang="en-US" sz="1500" dirty="0"/>
          </a:p>
        </p:txBody>
      </p:sp>
      <p:sp>
        <p:nvSpPr>
          <p:cNvPr id="34" name="chain-item-2-3"/>
          <p:cNvSpPr/>
          <p:nvPr/>
        </p:nvSpPr>
        <p:spPr>
          <a:xfrm>
            <a:off x="8046720" y="4608576"/>
            <a:ext cx="34747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退役拆除 · 循环利用</a:t>
            </a:r>
            <a:endParaRPr lang="en-US" sz="1500" dirty="0"/>
          </a:p>
        </p:txBody>
      </p:sp>
      <p:sp>
        <p:nvSpPr>
          <p:cNvPr id="36" name="invest-bar"/>
          <p:cNvSpPr/>
          <p:nvPr/>
        </p:nvSpPr>
        <p:spPr>
          <a:xfrm>
            <a:off x="548640" y="5440680"/>
            <a:ext cx="10972800" cy="685800"/>
          </a:xfrm>
          <a:prstGeom prst="roundRect">
            <a:avLst>
              <a:gd name="adj" fmla="val 16000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初始投资构成（一般情况）：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风电机组（含塔筒）约40%   ·   基础与施工安装约30%   ·   海缆与送出工程约10%～15%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国产化：整机领先，短板在“深层次”环节</a:t>
            </a:r>
            <a:endParaRPr lang="en-US" sz="3200" dirty="0"/>
          </a:p>
        </p:txBody>
      </p:sp>
      <p:sp>
        <p:nvSpPr>
          <p:cNvPr id="4" name="loc-0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整机</a:t>
            </a:r>
            <a:endParaRPr lang="en-US" sz="1700" dirty="0"/>
          </a:p>
        </p:txBody>
      </p:sp>
      <p:sp>
        <p:nvSpPr>
          <p:cNvPr id="6" name="loc-0-bar0"/>
          <p:cNvSpPr/>
          <p:nvPr/>
        </p:nvSpPr>
        <p:spPr>
          <a:xfrm>
            <a:off x="2651760" y="1600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loc-0-bar1"/>
          <p:cNvSpPr/>
          <p:nvPr/>
        </p:nvSpPr>
        <p:spPr>
          <a:xfrm>
            <a:off x="3035808" y="1600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loc-0-bar2"/>
          <p:cNvSpPr/>
          <p:nvPr/>
        </p:nvSpPr>
        <p:spPr>
          <a:xfrm>
            <a:off x="3419856" y="1600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loc-0-bar3"/>
          <p:cNvSpPr/>
          <p:nvPr/>
        </p:nvSpPr>
        <p:spPr>
          <a:xfrm>
            <a:off x="3803904" y="1600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5196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高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 MW级机组居世界前列</a:t>
            </a:r>
            <a:endParaRPr lang="en-US" sz="1300" dirty="0"/>
          </a:p>
        </p:txBody>
      </p:sp>
      <p:sp>
        <p:nvSpPr>
          <p:cNvPr id="12" name="loc-1"/>
          <p:cNvSpPr/>
          <p:nvPr/>
        </p:nvSpPr>
        <p:spPr>
          <a:xfrm>
            <a:off x="548640" y="25603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560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叶片</a:t>
            </a:r>
            <a:endParaRPr lang="en-US" sz="1700" dirty="0"/>
          </a:p>
        </p:txBody>
      </p:sp>
      <p:sp>
        <p:nvSpPr>
          <p:cNvPr id="14" name="loc-1-bar0"/>
          <p:cNvSpPr/>
          <p:nvPr/>
        </p:nvSpPr>
        <p:spPr>
          <a:xfrm>
            <a:off x="2651760" y="2743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loc-1-bar1"/>
          <p:cNvSpPr/>
          <p:nvPr/>
        </p:nvSpPr>
        <p:spPr>
          <a:xfrm>
            <a:off x="3035808" y="2743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loc-1-bar2"/>
          <p:cNvSpPr/>
          <p:nvPr/>
        </p:nvSpPr>
        <p:spPr>
          <a:xfrm>
            <a:off x="3419856" y="2743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loc-1-bar3"/>
          <p:cNvSpPr/>
          <p:nvPr/>
        </p:nvSpPr>
        <p:spPr>
          <a:xfrm>
            <a:off x="3803904" y="2743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519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较高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碳纤维、芯材部分进口</a:t>
            </a:r>
            <a:endParaRPr lang="en-US" sz="1300" dirty="0"/>
          </a:p>
        </p:txBody>
      </p:sp>
      <p:sp>
        <p:nvSpPr>
          <p:cNvPr id="20" name="loc-2"/>
          <p:cNvSpPr/>
          <p:nvPr/>
        </p:nvSpPr>
        <p:spPr>
          <a:xfrm>
            <a:off x="548640" y="37033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703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海缆</a:t>
            </a:r>
            <a:endParaRPr lang="en-US" sz="1700" dirty="0"/>
          </a:p>
        </p:txBody>
      </p:sp>
      <p:sp>
        <p:nvSpPr>
          <p:cNvPr id="22" name="loc-2-bar0"/>
          <p:cNvSpPr/>
          <p:nvPr/>
        </p:nvSpPr>
        <p:spPr>
          <a:xfrm>
            <a:off x="2651760" y="3886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loc-2-bar1"/>
          <p:cNvSpPr/>
          <p:nvPr/>
        </p:nvSpPr>
        <p:spPr>
          <a:xfrm>
            <a:off x="3035808" y="3886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loc-2-bar2"/>
          <p:cNvSpPr/>
          <p:nvPr/>
        </p:nvSpPr>
        <p:spPr>
          <a:xfrm>
            <a:off x="3419856" y="3886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loc-2-bar3"/>
          <p:cNvSpPr/>
          <p:nvPr/>
        </p:nvSpPr>
        <p:spPr>
          <a:xfrm>
            <a:off x="3803904" y="3886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5196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高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5176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直流绝缘料部分进口</a:t>
            </a:r>
            <a:endParaRPr lang="en-US" sz="1300" dirty="0"/>
          </a:p>
        </p:txBody>
      </p:sp>
      <p:sp>
        <p:nvSpPr>
          <p:cNvPr id="28" name="loc-3"/>
          <p:cNvSpPr/>
          <p:nvPr/>
        </p:nvSpPr>
        <p:spPr>
          <a:xfrm>
            <a:off x="548640" y="48463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846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基础 / 施工</a:t>
            </a:r>
            <a:endParaRPr lang="en-US" sz="1700" dirty="0"/>
          </a:p>
        </p:txBody>
      </p:sp>
      <p:sp>
        <p:nvSpPr>
          <p:cNvPr id="30" name="loc-3-bar0"/>
          <p:cNvSpPr/>
          <p:nvPr/>
        </p:nvSpPr>
        <p:spPr>
          <a:xfrm>
            <a:off x="2651760" y="5029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loc-3-bar1"/>
          <p:cNvSpPr/>
          <p:nvPr/>
        </p:nvSpPr>
        <p:spPr>
          <a:xfrm>
            <a:off x="3035808" y="5029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loc-3-bar2"/>
          <p:cNvSpPr/>
          <p:nvPr/>
        </p:nvSpPr>
        <p:spPr>
          <a:xfrm>
            <a:off x="3419856" y="5029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loc-3-bar3"/>
          <p:cNvSpPr/>
          <p:nvPr/>
        </p:nvSpPr>
        <p:spPr>
          <a:xfrm>
            <a:off x="3803904" y="5029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25196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高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65176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漂浮式系泊经验不足</a:t>
            </a:r>
            <a:endParaRPr lang="en-US" sz="1300" dirty="0"/>
          </a:p>
        </p:txBody>
      </p:sp>
      <p:sp>
        <p:nvSpPr>
          <p:cNvPr id="36" name="loc-4"/>
          <p:cNvSpPr/>
          <p:nvPr/>
        </p:nvSpPr>
        <p:spPr>
          <a:xfrm>
            <a:off x="6217920" y="14173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46520" y="1417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齿轮箱 / 发电机</a:t>
            </a:r>
            <a:endParaRPr lang="en-US" sz="1700" dirty="0"/>
          </a:p>
        </p:txBody>
      </p:sp>
      <p:sp>
        <p:nvSpPr>
          <p:cNvPr id="38" name="loc-4-bar0"/>
          <p:cNvSpPr/>
          <p:nvPr/>
        </p:nvSpPr>
        <p:spPr>
          <a:xfrm>
            <a:off x="8321040" y="1600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loc-4-bar1"/>
          <p:cNvSpPr/>
          <p:nvPr/>
        </p:nvSpPr>
        <p:spPr>
          <a:xfrm>
            <a:off x="8705088" y="1600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loc-4-bar2"/>
          <p:cNvSpPr/>
          <p:nvPr/>
        </p:nvSpPr>
        <p:spPr>
          <a:xfrm>
            <a:off x="9089136" y="1600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loc-4-bar3"/>
          <p:cNvSpPr/>
          <p:nvPr/>
        </p:nvSpPr>
        <p:spPr>
          <a:xfrm>
            <a:off x="9473184" y="1600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92124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较高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中速齿轮箱配套能力强</a:t>
            </a:r>
            <a:endParaRPr lang="en-US" sz="1300" dirty="0"/>
          </a:p>
        </p:txBody>
      </p:sp>
      <p:sp>
        <p:nvSpPr>
          <p:cNvPr id="44" name="loc-5"/>
          <p:cNvSpPr/>
          <p:nvPr/>
        </p:nvSpPr>
        <p:spPr>
          <a:xfrm>
            <a:off x="6217920" y="25603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46520" y="2560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主轴承</a:t>
            </a:r>
            <a:endParaRPr lang="en-US" sz="1700" dirty="0"/>
          </a:p>
        </p:txBody>
      </p:sp>
      <p:sp>
        <p:nvSpPr>
          <p:cNvPr id="46" name="loc-5-bar0"/>
          <p:cNvSpPr/>
          <p:nvPr/>
        </p:nvSpPr>
        <p:spPr>
          <a:xfrm>
            <a:off x="8321040" y="2743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loc-5-bar1"/>
          <p:cNvSpPr/>
          <p:nvPr/>
        </p:nvSpPr>
        <p:spPr>
          <a:xfrm>
            <a:off x="8705088" y="2743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8" name="loc-5-bar2"/>
          <p:cNvSpPr/>
          <p:nvPr/>
        </p:nvSpPr>
        <p:spPr>
          <a:xfrm>
            <a:off x="9089136" y="2743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49" name="loc-5-bar3"/>
          <p:cNvSpPr/>
          <p:nvPr/>
        </p:nvSpPr>
        <p:spPr>
          <a:xfrm>
            <a:off x="9473184" y="2743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92124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中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83210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超大兆瓦主轴承验证不足</a:t>
            </a:r>
            <a:endParaRPr lang="en-US" sz="1300" dirty="0"/>
          </a:p>
        </p:txBody>
      </p:sp>
      <p:sp>
        <p:nvSpPr>
          <p:cNvPr id="52" name="loc-6"/>
          <p:cNvSpPr/>
          <p:nvPr/>
        </p:nvSpPr>
        <p:spPr>
          <a:xfrm>
            <a:off x="6217920" y="37033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446520" y="3703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变流器 / IGBT</a:t>
            </a:r>
            <a:endParaRPr lang="en-US" sz="1700" dirty="0"/>
          </a:p>
        </p:txBody>
      </p:sp>
      <p:sp>
        <p:nvSpPr>
          <p:cNvPr id="54" name="loc-6-bar0"/>
          <p:cNvSpPr/>
          <p:nvPr/>
        </p:nvSpPr>
        <p:spPr>
          <a:xfrm>
            <a:off x="8321040" y="3886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loc-6-bar1"/>
          <p:cNvSpPr/>
          <p:nvPr/>
        </p:nvSpPr>
        <p:spPr>
          <a:xfrm>
            <a:off x="8705088" y="3886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loc-6-bar2"/>
          <p:cNvSpPr/>
          <p:nvPr/>
        </p:nvSpPr>
        <p:spPr>
          <a:xfrm>
            <a:off x="9089136" y="3886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57" name="loc-6-bar3"/>
          <p:cNvSpPr/>
          <p:nvPr/>
        </p:nvSpPr>
        <p:spPr>
          <a:xfrm>
            <a:off x="9473184" y="3886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92124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中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832104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高压大功率IGBT依赖进口</a:t>
            </a:r>
            <a:endParaRPr lang="en-US" sz="1300" dirty="0"/>
          </a:p>
        </p:txBody>
      </p:sp>
      <p:sp>
        <p:nvSpPr>
          <p:cNvPr id="60" name="loc-7"/>
          <p:cNvSpPr/>
          <p:nvPr/>
        </p:nvSpPr>
        <p:spPr>
          <a:xfrm>
            <a:off x="6217920" y="48463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46520" y="4846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设计仿真软件</a:t>
            </a:r>
            <a:endParaRPr lang="en-US" sz="1700" dirty="0"/>
          </a:p>
        </p:txBody>
      </p:sp>
      <p:sp>
        <p:nvSpPr>
          <p:cNvPr id="62" name="loc-7-bar0"/>
          <p:cNvSpPr/>
          <p:nvPr/>
        </p:nvSpPr>
        <p:spPr>
          <a:xfrm>
            <a:off x="8321040" y="5029200"/>
            <a:ext cx="310896" cy="201168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3" name="loc-7-bar1"/>
          <p:cNvSpPr/>
          <p:nvPr/>
        </p:nvSpPr>
        <p:spPr>
          <a:xfrm>
            <a:off x="8705088" y="5029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4" name="loc-7-bar2"/>
          <p:cNvSpPr/>
          <p:nvPr/>
        </p:nvSpPr>
        <p:spPr>
          <a:xfrm>
            <a:off x="9089136" y="5029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5" name="loc-7-bar3"/>
          <p:cNvSpPr/>
          <p:nvPr/>
        </p:nvSpPr>
        <p:spPr>
          <a:xfrm>
            <a:off x="9473184" y="502920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99212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低</a:t>
            </a:r>
            <a:endParaRPr lang="en-US" sz="1400" dirty="0"/>
          </a:p>
        </p:txBody>
      </p:sp>
      <p:sp>
        <p:nvSpPr>
          <p:cNvPr id="67" name="Text 64"/>
          <p:cNvSpPr txBox="1"/>
          <p:nvPr/>
        </p:nvSpPr>
        <p:spPr>
          <a:xfrm>
            <a:off x="83210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以国外商业软件为主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集群格局：沿海带状、依港集聚、苏粤双核</a:t>
            </a:r>
            <a:endParaRPr lang="en-US" sz="3200" dirty="0"/>
          </a:p>
        </p:txBody>
      </p:sp>
      <p:pic>
        <p:nvPicPr>
          <p:cNvPr id="4" name="cluster-schematic" descr="/tmp/claude-0/-home-user-repo1/0a685774-457d-5669-ad23-f873f870951a/scratchpad/build/fi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489767" cy="4846320"/>
          </a:xfrm>
          <a:prstGeom prst="rect">
            <a:avLst/>
          </a:prstGeom>
        </p:spPr>
      </p:pic>
      <p:sp>
        <p:nvSpPr>
          <p:cNvPr id="5" name="core-0"/>
          <p:cNvSpPr/>
          <p:nvPr/>
        </p:nvSpPr>
        <p:spPr>
          <a:xfrm>
            <a:off x="8138160" y="137160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3210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江苏盐城—南通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32104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40%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整机产能占全国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92124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20%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992124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叶片产能占全国</a:t>
            </a:r>
            <a:endParaRPr lang="en-US" sz="1200" dirty="0"/>
          </a:p>
        </p:txBody>
      </p:sp>
      <p:sp>
        <p:nvSpPr>
          <p:cNvPr id="11" name="core-1"/>
          <p:cNvSpPr/>
          <p:nvPr/>
        </p:nvSpPr>
        <p:spPr>
          <a:xfrm>
            <a:off x="8138160" y="374904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2104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广东阳江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4434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801.66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8321040" y="50749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万千瓦并网，地级市第一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921240" y="4434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187亿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9921240" y="50749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2025年产业链产值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138160" y="5989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“十四五”五大基地 → “十五五”四大海域（渤海、黄海、东海、南海）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集群评价：苏粤领先，但发展阶段不同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9260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产业链完整度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技术创新能力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港口岸线条件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资源开发潜力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8755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市场辐射能力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江苏盐城—南通</a:t>
            </a:r>
            <a:endParaRPr lang="en-US" sz="1500" dirty="0"/>
          </a:p>
        </p:txBody>
      </p:sp>
      <p:sp>
        <p:nvSpPr>
          <p:cNvPr id="10" name="ev-0-0"/>
          <p:cNvSpPr/>
          <p:nvPr/>
        </p:nvSpPr>
        <p:spPr>
          <a:xfrm>
            <a:off x="2971800" y="1956816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71800" y="1956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12" name="ev-0-1"/>
          <p:cNvSpPr/>
          <p:nvPr/>
        </p:nvSpPr>
        <p:spPr>
          <a:xfrm>
            <a:off x="4709160" y="1956816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1956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14" name="ev-0-2"/>
          <p:cNvSpPr/>
          <p:nvPr/>
        </p:nvSpPr>
        <p:spPr>
          <a:xfrm>
            <a:off x="6446520" y="1956816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1956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16" name="ev-0-3"/>
          <p:cNvSpPr/>
          <p:nvPr/>
        </p:nvSpPr>
        <p:spPr>
          <a:xfrm>
            <a:off x="8183880" y="1956816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F6E3C3"/>
          </a:solidFill>
          <a:ln w="12700">
            <a:solidFill>
              <a:srgbClr val="F6E3C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83880" y="1956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</a:t>
            </a:r>
            <a:endParaRPr lang="en-US" sz="1400" dirty="0"/>
          </a:p>
        </p:txBody>
      </p:sp>
      <p:sp>
        <p:nvSpPr>
          <p:cNvPr id="18" name="ev-0-4"/>
          <p:cNvSpPr/>
          <p:nvPr/>
        </p:nvSpPr>
        <p:spPr>
          <a:xfrm>
            <a:off x="9921240" y="1956816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921240" y="1956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5420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上海—浙江</a:t>
            </a:r>
            <a:endParaRPr lang="en-US" sz="1500" dirty="0"/>
          </a:p>
        </p:txBody>
      </p:sp>
      <p:sp>
        <p:nvSpPr>
          <p:cNvPr id="21" name="ev-1-0"/>
          <p:cNvSpPr/>
          <p:nvPr/>
        </p:nvSpPr>
        <p:spPr>
          <a:xfrm>
            <a:off x="2971800" y="2578608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71800" y="25786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23" name="ev-1-1"/>
          <p:cNvSpPr/>
          <p:nvPr/>
        </p:nvSpPr>
        <p:spPr>
          <a:xfrm>
            <a:off x="4709160" y="2578608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09160" y="25786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25" name="ev-1-2"/>
          <p:cNvSpPr/>
          <p:nvPr/>
        </p:nvSpPr>
        <p:spPr>
          <a:xfrm>
            <a:off x="6446520" y="2578608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46520" y="25786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27" name="ev-1-3"/>
          <p:cNvSpPr/>
          <p:nvPr/>
        </p:nvSpPr>
        <p:spPr>
          <a:xfrm>
            <a:off x="8183880" y="2578608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F6E3C3"/>
          </a:solidFill>
          <a:ln w="12700">
            <a:solidFill>
              <a:srgbClr val="F6E3C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83880" y="25786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</a:t>
            </a:r>
            <a:endParaRPr lang="en-US" sz="1400" dirty="0"/>
          </a:p>
        </p:txBody>
      </p:sp>
      <p:sp>
        <p:nvSpPr>
          <p:cNvPr id="29" name="ev-1-4"/>
          <p:cNvSpPr/>
          <p:nvPr/>
        </p:nvSpPr>
        <p:spPr>
          <a:xfrm>
            <a:off x="9921240" y="2578608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921240" y="25786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31638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福建福清—漳州</a:t>
            </a:r>
            <a:endParaRPr lang="en-US" sz="1500" dirty="0"/>
          </a:p>
        </p:txBody>
      </p:sp>
      <p:sp>
        <p:nvSpPr>
          <p:cNvPr id="32" name="ev-2-0"/>
          <p:cNvSpPr/>
          <p:nvPr/>
        </p:nvSpPr>
        <p:spPr>
          <a:xfrm>
            <a:off x="2971800" y="320040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71800" y="32004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34" name="ev-2-1"/>
          <p:cNvSpPr/>
          <p:nvPr/>
        </p:nvSpPr>
        <p:spPr>
          <a:xfrm>
            <a:off x="4709160" y="320040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09160" y="32004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36" name="ev-2-2"/>
          <p:cNvSpPr/>
          <p:nvPr/>
        </p:nvSpPr>
        <p:spPr>
          <a:xfrm>
            <a:off x="6446520" y="320040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46520" y="32004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38" name="ev-2-3"/>
          <p:cNvSpPr/>
          <p:nvPr/>
        </p:nvSpPr>
        <p:spPr>
          <a:xfrm>
            <a:off x="8183880" y="320040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183880" y="32004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40" name="ev-2-4"/>
          <p:cNvSpPr/>
          <p:nvPr/>
        </p:nvSpPr>
        <p:spPr>
          <a:xfrm>
            <a:off x="9921240" y="320040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F6E3C3"/>
          </a:solidFill>
          <a:ln w="12700">
            <a:solidFill>
              <a:srgbClr val="F6E3C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921240" y="32004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378561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广东阳江—粤东</a:t>
            </a:r>
            <a:endParaRPr lang="en-US" sz="1500" dirty="0"/>
          </a:p>
        </p:txBody>
      </p:sp>
      <p:sp>
        <p:nvSpPr>
          <p:cNvPr id="43" name="ev-3-0"/>
          <p:cNvSpPr/>
          <p:nvPr/>
        </p:nvSpPr>
        <p:spPr>
          <a:xfrm>
            <a:off x="2971800" y="3822192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971800" y="38221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45" name="ev-3-1"/>
          <p:cNvSpPr/>
          <p:nvPr/>
        </p:nvSpPr>
        <p:spPr>
          <a:xfrm>
            <a:off x="4709160" y="3822192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709160" y="38221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47" name="ev-3-2"/>
          <p:cNvSpPr/>
          <p:nvPr/>
        </p:nvSpPr>
        <p:spPr>
          <a:xfrm>
            <a:off x="6446520" y="3822192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446520" y="38221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49" name="ev-3-3"/>
          <p:cNvSpPr/>
          <p:nvPr/>
        </p:nvSpPr>
        <p:spPr>
          <a:xfrm>
            <a:off x="8183880" y="3822192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183880" y="38221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51" name="ev-3-4"/>
          <p:cNvSpPr/>
          <p:nvPr/>
        </p:nvSpPr>
        <p:spPr>
          <a:xfrm>
            <a:off x="9921240" y="3822192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921240" y="38221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44074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山东半岛</a:t>
            </a:r>
            <a:endParaRPr lang="en-US" sz="1500" dirty="0"/>
          </a:p>
        </p:txBody>
      </p:sp>
      <p:sp>
        <p:nvSpPr>
          <p:cNvPr id="54" name="ev-4-0"/>
          <p:cNvSpPr/>
          <p:nvPr/>
        </p:nvSpPr>
        <p:spPr>
          <a:xfrm>
            <a:off x="2971800" y="4443984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971800" y="44439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56" name="ev-4-1"/>
          <p:cNvSpPr/>
          <p:nvPr/>
        </p:nvSpPr>
        <p:spPr>
          <a:xfrm>
            <a:off x="4709160" y="4443984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F6E3C3"/>
          </a:solidFill>
          <a:ln w="12700">
            <a:solidFill>
              <a:srgbClr val="F6E3C3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709160" y="44439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</a:t>
            </a:r>
            <a:endParaRPr lang="en-US" sz="1400" dirty="0"/>
          </a:p>
        </p:txBody>
      </p:sp>
      <p:sp>
        <p:nvSpPr>
          <p:cNvPr id="58" name="ev-4-2"/>
          <p:cNvSpPr/>
          <p:nvPr/>
        </p:nvSpPr>
        <p:spPr>
          <a:xfrm>
            <a:off x="6446520" y="4443984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446520" y="44439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60" name="ev-4-3"/>
          <p:cNvSpPr/>
          <p:nvPr/>
        </p:nvSpPr>
        <p:spPr>
          <a:xfrm>
            <a:off x="8183880" y="4443984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183880" y="44439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62" name="ev-4-4"/>
          <p:cNvSpPr/>
          <p:nvPr/>
        </p:nvSpPr>
        <p:spPr>
          <a:xfrm>
            <a:off x="9921240" y="4443984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921240" y="44439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50292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广西—海南</a:t>
            </a:r>
            <a:endParaRPr lang="en-US" sz="1500" dirty="0"/>
          </a:p>
        </p:txBody>
      </p:sp>
      <p:sp>
        <p:nvSpPr>
          <p:cNvPr id="65" name="ev-5-0"/>
          <p:cNvSpPr/>
          <p:nvPr/>
        </p:nvSpPr>
        <p:spPr>
          <a:xfrm>
            <a:off x="2971800" y="5065776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F6E3C3"/>
          </a:solidFill>
          <a:ln w="12700">
            <a:solidFill>
              <a:srgbClr val="F6E3C3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2971800" y="50657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</a:t>
            </a:r>
            <a:endParaRPr lang="en-US" sz="1400" dirty="0"/>
          </a:p>
        </p:txBody>
      </p:sp>
      <p:sp>
        <p:nvSpPr>
          <p:cNvPr id="67" name="ev-5-1"/>
          <p:cNvSpPr/>
          <p:nvPr/>
        </p:nvSpPr>
        <p:spPr>
          <a:xfrm>
            <a:off x="4709160" y="5065776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F6E3C3"/>
          </a:solidFill>
          <a:ln w="12700">
            <a:solidFill>
              <a:srgbClr val="F6E3C3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709160" y="50657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</a:t>
            </a:r>
            <a:endParaRPr lang="en-US" sz="1400" dirty="0"/>
          </a:p>
        </p:txBody>
      </p:sp>
      <p:sp>
        <p:nvSpPr>
          <p:cNvPr id="69" name="ev-5-2"/>
          <p:cNvSpPr/>
          <p:nvPr/>
        </p:nvSpPr>
        <p:spPr>
          <a:xfrm>
            <a:off x="6446520" y="5065776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446520" y="50657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71" name="ev-5-3"/>
          <p:cNvSpPr/>
          <p:nvPr/>
        </p:nvSpPr>
        <p:spPr>
          <a:xfrm>
            <a:off x="8183880" y="5065776"/>
            <a:ext cx="1554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8183880" y="50657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强</a:t>
            </a:r>
            <a:endParaRPr lang="en-US" sz="1400" dirty="0"/>
          </a:p>
        </p:txBody>
      </p:sp>
      <p:sp>
        <p:nvSpPr>
          <p:cNvPr id="73" name="ev-5-4"/>
          <p:cNvSpPr/>
          <p:nvPr/>
        </p:nvSpPr>
        <p:spPr>
          <a:xfrm>
            <a:off x="9921240" y="5065776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CFE3E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9921240" y="50657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较强</a:t>
            </a:r>
            <a:endParaRPr lang="en-US" sz="1400" dirty="0"/>
          </a:p>
        </p:txBody>
      </p:sp>
      <p:sp>
        <p:nvSpPr>
          <p:cNvPr id="75" name="ev-note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江苏：产业链成熟、近海趋饱和，需向深远海与技术服务转型；广东：资源与产业兼备，处于快速上升期（作者依据公开资料的定性评价）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为什么这样布局：四大形成机制</a:t>
            </a:r>
            <a:endParaRPr lang="en-US" sz="3200" dirty="0"/>
          </a:p>
        </p:txBody>
      </p:sp>
      <p:sp>
        <p:nvSpPr>
          <p:cNvPr id="4" name="mech-0"/>
          <p:cNvSpPr/>
          <p:nvPr/>
        </p:nvSpPr>
        <p:spPr>
          <a:xfrm>
            <a:off x="548640" y="141732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ech-0-circle"/>
          <p:cNvSpPr/>
          <p:nvPr/>
        </p:nvSpPr>
        <p:spPr>
          <a:xfrm>
            <a:off x="868680" y="196596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mech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2227478"/>
            <a:ext cx="482803" cy="482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大部件物流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2286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叶片 &gt; 120 m、单桩 &gt; 2000 t，只能水运，必须“下线即装船”</a:t>
            </a:r>
            <a:endParaRPr lang="en-US" sz="1500" dirty="0"/>
          </a:p>
        </p:txBody>
      </p:sp>
      <p:sp>
        <p:nvSpPr>
          <p:cNvPr id="9" name="mech-1"/>
          <p:cNvSpPr/>
          <p:nvPr/>
        </p:nvSpPr>
        <p:spPr>
          <a:xfrm>
            <a:off x="6126480" y="141732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ech-1-circle"/>
          <p:cNvSpPr/>
          <p:nvPr/>
        </p:nvSpPr>
        <p:spPr>
          <a:xfrm>
            <a:off x="6446520" y="19659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mech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038" y="2227478"/>
            <a:ext cx="482803" cy="48280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7240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港口岸线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7772400" y="2286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重件码头承载力、前沿水深与堆场面积构成硬约束</a:t>
            </a:r>
            <a:endParaRPr lang="en-US" sz="1500" dirty="0"/>
          </a:p>
        </p:txBody>
      </p:sp>
      <p:sp>
        <p:nvSpPr>
          <p:cNvPr id="14" name="mech-2"/>
          <p:cNvSpPr/>
          <p:nvPr/>
        </p:nvSpPr>
        <p:spPr>
          <a:xfrm>
            <a:off x="548640" y="379476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ech-2-circle"/>
          <p:cNvSpPr/>
          <p:nvPr/>
        </p:nvSpPr>
        <p:spPr>
          <a:xfrm>
            <a:off x="868680" y="43434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mech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" y="4604918"/>
            <a:ext cx="482803" cy="482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19456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地方政策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2194560" y="4663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“资源换产业”：项目资源配置绑定装备落地</a:t>
            </a:r>
            <a:endParaRPr lang="en-US" sz="1500" dirty="0"/>
          </a:p>
        </p:txBody>
      </p:sp>
      <p:sp>
        <p:nvSpPr>
          <p:cNvPr id="19" name="mech-3"/>
          <p:cNvSpPr/>
          <p:nvPr/>
        </p:nvSpPr>
        <p:spPr>
          <a:xfrm>
            <a:off x="6126480" y="379476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mech-3-circle"/>
          <p:cNvSpPr/>
          <p:nvPr/>
        </p:nvSpPr>
        <p:spPr>
          <a:xfrm>
            <a:off x="6446520" y="43434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mech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38" y="4604918"/>
            <a:ext cx="482803" cy="48280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7240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龙头带动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0" y="4663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整机链主带动叶片、塔筒、海缆配套就近集聚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其中“大部件物流”是由技术参数决定的根本原因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制约因素：技术、政策市场、集群三个层面</a:t>
            </a:r>
            <a:endParaRPr lang="en-US" sz="3200" dirty="0"/>
          </a:p>
        </p:txBody>
      </p:sp>
      <p:sp>
        <p:nvSpPr>
          <p:cNvPr id="4" name="cons-0"/>
          <p:cNvSpPr/>
          <p:nvPr/>
        </p:nvSpPr>
        <p:spPr>
          <a:xfrm>
            <a:off x="548640" y="1371600"/>
            <a:ext cx="6309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技术层面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481328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主轴承、IGBT、碳纤维、设计软件“卡脖子”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大型化快验证不足；台风、腐蚀适应性待提高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深远海柔直成本高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漂浮式造价约为固定式2～3倍</a:t>
            </a:r>
            <a:endParaRPr lang="en-US" sz="1400" dirty="0"/>
          </a:p>
        </p:txBody>
      </p:sp>
      <p:sp>
        <p:nvSpPr>
          <p:cNvPr id="7" name="cons-1"/>
          <p:cNvSpPr/>
          <p:nvPr/>
        </p:nvSpPr>
        <p:spPr>
          <a:xfrm>
            <a:off x="548640" y="3246120"/>
            <a:ext cx="6309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355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政策与市场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3355848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生态红线、航道、军事用海约束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深远海用海管理制度待完善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电价市场化后收益不确定</a:t>
            </a:r>
            <a:endParaRPr lang="en-US" sz="1400" dirty="0"/>
          </a:p>
        </p:txBody>
      </p:sp>
      <p:sp>
        <p:nvSpPr>
          <p:cNvPr id="10" name="cons-2"/>
          <p:cNvSpPr/>
          <p:nvPr/>
        </p:nvSpPr>
        <p:spPr>
          <a:xfrm>
            <a:off x="548640" y="4754880"/>
            <a:ext cx="6309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864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集群层面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4864608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同质化布局、名义产能过剩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整机投标价降幅超一半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“资源换产业”造成市场分割</a:t>
            </a:r>
            <a:endParaRPr lang="en-US" sz="1400" dirty="0"/>
          </a:p>
        </p:txBody>
      </p:sp>
      <p:graphicFrame>
        <p:nvGraphicFramePr>
          <p:cNvPr id="13" name="chart-share" descr=""/>
          <p:cNvGraphicFramePr/>
          <p:nvPr/>
        </p:nvGraphicFramePr>
        <p:xfrm>
          <a:off x="7132320" y="1325880"/>
          <a:ext cx="4480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7132320" y="5577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数据来源：CWEA；需求相对偏弱，与制造端产能扩张形成反差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趋势与建议：从“规模领先”到“技术领先”</a:t>
            </a:r>
            <a:endParaRPr lang="en-US" sz="3200" dirty="0"/>
          </a:p>
        </p:txBody>
      </p:sp>
      <p:sp>
        <p:nvSpPr>
          <p:cNvPr id="4" name="trend-card"/>
          <p:cNvSpPr/>
          <p:nvPr/>
        </p:nvSpPr>
        <p:spPr>
          <a:xfrm>
            <a:off x="548640" y="1371600"/>
            <a:ext cx="4023360" cy="47548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五大趋势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大型化：15～20 MW主流，25 MW+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深远海：2030年累计有望超1亿千瓦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送出：±500 kV柔直、低频交流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海上风电+：制氢、海洋牧场、储能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产业出海：整机、单桩、海缆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14173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集群差异化分工建议</a:t>
            </a:r>
            <a:endParaRPr lang="en-US" sz="1900" dirty="0"/>
          </a:p>
        </p:txBody>
      </p:sp>
      <p:sp>
        <p:nvSpPr>
          <p:cNvPr id="8" name="div-0"/>
          <p:cNvSpPr/>
          <p:nvPr/>
        </p:nvSpPr>
        <p:spPr>
          <a:xfrm>
            <a:off x="4892040" y="1965960"/>
            <a:ext cx="32461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749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江苏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1965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大兆瓦整机、柔直送出、运维服务</a:t>
            </a:r>
            <a:endParaRPr lang="en-US" sz="1300" dirty="0"/>
          </a:p>
        </p:txBody>
      </p:sp>
      <p:sp>
        <p:nvSpPr>
          <p:cNvPr id="11" name="div-1"/>
          <p:cNvSpPr/>
          <p:nvPr/>
        </p:nvSpPr>
        <p:spPr>
          <a:xfrm>
            <a:off x="8275320" y="1965960"/>
            <a:ext cx="32461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沪浙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1965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研发设计、海缆、电力电子装备</a:t>
            </a:r>
            <a:endParaRPr lang="en-US" sz="1300" dirty="0"/>
          </a:p>
        </p:txBody>
      </p:sp>
      <p:sp>
        <p:nvSpPr>
          <p:cNvPr id="14" name="div-2"/>
          <p:cNvSpPr/>
          <p:nvPr/>
        </p:nvSpPr>
        <p:spPr>
          <a:xfrm>
            <a:off x="4892040" y="2926080"/>
            <a:ext cx="32461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福建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强风机组、嵌岩基础施工</a:t>
            </a:r>
            <a:endParaRPr lang="en-US" sz="1300" dirty="0"/>
          </a:p>
        </p:txBody>
      </p:sp>
      <p:sp>
        <p:nvSpPr>
          <p:cNvPr id="17" name="div-3"/>
          <p:cNvSpPr/>
          <p:nvPr/>
        </p:nvSpPr>
        <p:spPr>
          <a:xfrm>
            <a:off x="8275320" y="2926080"/>
            <a:ext cx="32461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5820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广东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28116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抗台风机组、漂浮式、检测认证</a:t>
            </a:r>
            <a:endParaRPr lang="en-US" sz="1300" dirty="0"/>
          </a:p>
        </p:txBody>
      </p:sp>
      <p:sp>
        <p:nvSpPr>
          <p:cNvPr id="20" name="div-4"/>
          <p:cNvSpPr/>
          <p:nvPr/>
        </p:nvSpPr>
        <p:spPr>
          <a:xfrm>
            <a:off x="4892040" y="3886200"/>
            <a:ext cx="32461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山东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886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海工装备、钢结构出口、海上风电+</a:t>
            </a:r>
            <a:endParaRPr lang="en-US" sz="1300" dirty="0"/>
          </a:p>
        </p:txBody>
      </p:sp>
      <p:sp>
        <p:nvSpPr>
          <p:cNvPr id="23" name="div-5"/>
          <p:cNvSpPr/>
          <p:nvPr/>
        </p:nvSpPr>
        <p:spPr>
          <a:xfrm>
            <a:off x="8275320" y="3886200"/>
            <a:ext cx="32461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北部湾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81160" y="3886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深远海示范、面向东盟出口</a:t>
            </a:r>
            <a:endParaRPr lang="en-US" sz="1300" dirty="0"/>
          </a:p>
        </p:txBody>
      </p:sp>
      <p:sp>
        <p:nvSpPr>
          <p:cNvPr id="26" name="support-card"/>
          <p:cNvSpPr/>
          <p:nvPr/>
        </p:nvSpPr>
        <p:spPr>
          <a:xfrm>
            <a:off x="4892040" y="4983480"/>
            <a:ext cx="6629400" cy="1143000"/>
          </a:xfrm>
          <a:prstGeom prst="roundRect">
            <a:avLst>
              <a:gd name="adj" fmla="val 9600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20640" y="4983480"/>
            <a:ext cx="6263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配套措施：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按四大海域统筹集群 · 攻关主轴承/IGBT/软件 · 建设国家级试验平台 · 规范“资源换产业” · 共享港口与船机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分阶段实施路径</a:t>
            </a:r>
            <a:endParaRPr lang="en-US" sz="3200" dirty="0"/>
          </a:p>
        </p:txBody>
      </p:sp>
      <p:sp>
        <p:nvSpPr>
          <p:cNvPr id="4" name="phase-0"/>
          <p:cNvSpPr/>
          <p:nvPr/>
        </p:nvSpPr>
        <p:spPr>
          <a:xfrm>
            <a:off x="548640" y="1463040"/>
            <a:ext cx="3566160" cy="100584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5156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近期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至2027年</a:t>
            </a:r>
            <a:endParaRPr lang="en-US" sz="1400" dirty="0"/>
          </a:p>
        </p:txBody>
      </p:sp>
      <p:sp>
        <p:nvSpPr>
          <p:cNvPr id="6" name="phase-card-0"/>
          <p:cNvSpPr/>
          <p:nvPr/>
        </p:nvSpPr>
        <p:spPr>
          <a:xfrm>
            <a:off x="548640" y="274320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9718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稳住近海开发节奏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核心部件国产化验证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规范地方产业政策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集群“提质”不“扩量”</a:t>
            </a:r>
            <a:endParaRPr lang="en-US" sz="1600" dirty="0"/>
          </a:p>
        </p:txBody>
      </p:sp>
      <p:sp>
        <p:nvSpPr>
          <p:cNvPr id="8" name="phase-1"/>
          <p:cNvSpPr/>
          <p:nvPr/>
        </p:nvSpPr>
        <p:spPr>
          <a:xfrm>
            <a:off x="4297680" y="1463040"/>
            <a:ext cx="3566160" cy="10058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中期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2028—2030年</a:t>
            </a:r>
            <a:endParaRPr lang="en-US" sz="1400" dirty="0"/>
          </a:p>
        </p:txBody>
      </p:sp>
      <p:sp>
        <p:nvSpPr>
          <p:cNvPr id="10" name="phase-card-1"/>
          <p:cNvSpPr/>
          <p:nvPr/>
        </p:nvSpPr>
        <p:spPr>
          <a:xfrm>
            <a:off x="4297680" y="274320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29718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深远海柔直送出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漂浮式规模化示范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按四大海域完成集群布局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形成2～3个世界级集群</a:t>
            </a:r>
            <a:endParaRPr lang="en-US" sz="1600" dirty="0"/>
          </a:p>
        </p:txBody>
      </p:sp>
      <p:sp>
        <p:nvSpPr>
          <p:cNvPr id="12" name="phase-2"/>
          <p:cNvSpPr/>
          <p:nvPr/>
        </p:nvSpPr>
        <p:spPr>
          <a:xfrm>
            <a:off x="8046720" y="1463040"/>
            <a:ext cx="3566160" cy="100584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4964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远期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2030年以后</a:t>
            </a:r>
            <a:endParaRPr lang="en-US" sz="1400" dirty="0"/>
          </a:p>
        </p:txBody>
      </p:sp>
      <p:sp>
        <p:nvSpPr>
          <p:cNvPr id="14" name="phase-card-2"/>
          <p:cNvSpPr/>
          <p:nvPr/>
        </p:nvSpPr>
        <p:spPr>
          <a:xfrm>
            <a:off x="8046720" y="274320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29718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漂浮式风电商业化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海上风电多能融合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由“规模领先”转向“技术领先”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参与国际标准制定</a:t>
            </a:r>
            <a:endParaRPr lang="en-US" sz="1600" dirty="0"/>
          </a:p>
        </p:txBody>
      </p:sp>
      <p:sp>
        <p:nvSpPr>
          <p:cNvPr id="16" name="phase-goal"/>
          <p:cNvSpPr/>
          <p:nvPr/>
        </p:nvSpPr>
        <p:spPr>
          <a:xfrm>
            <a:off x="548640" y="5486400"/>
            <a:ext cx="10972800" cy="640080"/>
          </a:xfrm>
          <a:prstGeom prst="roundRect">
            <a:avLst>
              <a:gd name="adj" fmla="val 17143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总目标：从“规模领先”走向“技术领先”，形成2～3个具有全球影响力的海上风电产业集群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结论：产业链已成，下一步补齐“深层次”短板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规模：约4700万千瓦，连续5年全球第一；单机迈入20 MW级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布局：沿海带状、依港集聚，苏粤双核、多点特色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方向：深远海与大型化牵引，按海域统筹、集群差异化分工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汇报完毕，恳请各位老师批评指正！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shore Wind">
  <a:themeElements>
    <a:clrScheme name="Offshore Wind">
      <a:dk1>
        <a:srgbClr val="1B2733"/>
      </a:dk1>
      <a:lt1>
        <a:srgbClr val="FFFFFF"/>
      </a:lt1>
      <a:dk2>
        <a:srgbClr val="0B3C5D"/>
      </a:dk2>
      <a:lt2>
        <a:srgbClr val="EEF4F8"/>
      </a:lt2>
      <a:accent1>
        <a:srgbClr val="1F6F9F"/>
      </a:accent1>
      <a:accent2>
        <a:srgbClr val="2A9D8F"/>
      </a:accent2>
      <a:accent3>
        <a:srgbClr val="E9A23B"/>
      </a:accent3>
      <a:accent4>
        <a:srgbClr val="8AA6B8"/>
      </a:accent4>
      <a:accent5>
        <a:srgbClr val="C0573E"/>
      </a:accent5>
      <a:accent6>
        <a:srgbClr val="5C6B73"/>
      </a:accent6>
      <a:hlink>
        <a:srgbClr val="1F6F9F"/>
      </a:hlink>
      <a:folHlink>
        <a:srgbClr val="5C6B73"/>
      </a:folHlink>
    </a:clrScheme>
    <a:fontScheme name="Offshore Wind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中国海上风电产业链及产业集群布局分析</dc:title>
  <dc:subject>PptxGenJS Presentation</dc:subject>
  <dc:creator>PptxGenJS</dc:creator>
  <cp:lastModifiedBy>PptxGenJS</cp:lastModifiedBy>
  <cp:revision>1</cp:revision>
  <dcterms:created xsi:type="dcterms:W3CDTF">2026-10-28T17:58:24Z</dcterms:created>
  <dcterms:modified xsi:type="dcterms:W3CDTF">2026-10-28T17:58:24Z</dcterms:modified>
</cp:coreProperties>
</file>