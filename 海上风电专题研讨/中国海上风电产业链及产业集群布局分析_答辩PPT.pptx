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27b80439-2a2e-0c41-9fc4-75e68e5144e9}">
          <p14:sldIdLst>
            <p14:sldId id="256"/>
          </p14:sldIdLst>
        </p14:section>
        <p14:section name="提纲" id="{a1a054e6-25ec-a41c-6554-3fca11a42113}">
          <p14:sldIdLst>
            <p14:sldId id="257"/>
          </p14:sldIdLst>
        </p14:section>
        <p14:section name="发展现状" id="{eabfd32e-7d1a-c201-cd30-04b8bd095570}">
          <p14:sldIdLst>
            <p14:sldId id="258"/>
            <p14:sldId id="259"/>
          </p14:sldIdLst>
        </p14:section>
        <p14:section name="产业链分析" id="{c70c5046-3298-b247-1d6e-40e7a5adb9b7}">
          <p14:sldIdLst>
            <p14:sldId id="260"/>
            <p14:sldId id="261"/>
          </p14:sldIdLst>
        </p14:section>
        <p14:section name="集群布局" id="{d3fbbcd7-4aab-ecc8-8bcb-5d415b10f80c}">
          <p14:sldIdLst>
            <p14:sldId id="262"/>
            <p14:sldId id="263"/>
          </p14:sldIdLst>
        </p14:section>
        <p14:section name="制约因素" id="{ec8a6c0b-1efc-a0f5-2e2a-59d80c067235}">
          <p14:sldIdLst>
            <p14:sldId id="264"/>
          </p14:sldIdLst>
        </p14:section>
        <p14:section name="趋势与建议" id="{3226c575-daa3-c757-0e7c-6e2783646192}">
          <p14:sldIdLst>
            <p14:sldId id="265"/>
          </p14:sldIdLst>
        </p14:section>
        <p14:section name="结论" id="{1291a77e-64f8-0989-022d-48072550f9ed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7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733"/>
                </a:solidFill>
                <a:latin typeface="+mn-lt"/>
              </a:rPr>
              <a:t>2019—2025年海上风电年度新增并网容量（万千瓦）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新增并网</c:v>
                </c:pt>
              </c:strCache>
            </c:strRef>
          </c:tx>
          <c:spPr>
            <a:solidFill>
              <a:srgbClr val="1F6F9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198</c:v>
                </c:pt>
                <c:pt idx="1">
                  <c:v>306</c:v>
                </c:pt>
                <c:pt idx="2">
                  <c:v>1690</c:v>
                </c:pt>
                <c:pt idx="3">
                  <c:v>516</c:v>
                </c:pt>
                <c:pt idx="4">
                  <c:v>633</c:v>
                </c:pt>
                <c:pt idx="5">
                  <c:v>404</c:v>
                </c:pt>
                <c:pt idx="6">
                  <c:v>659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B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CBD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</c:scaling>
        <c:delete val="0"/>
        <c:axPos val="l"/>
        <c:majorGridlines>
          <c:spPr>
            <a:ln w="6350" cap="flat">
              <a:solidFill>
                <a:srgbClr val="D9E2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7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733"/>
                </a:solidFill>
                <a:latin typeface="+mn-lt"/>
              </a:rPr>
              <a:t>海上风电占全国风电新增比重（%）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>
            <a:solidFill>
              <a:srgbClr val="C0573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25.9</c:v>
                </c:pt>
                <c:pt idx="1">
                  <c:v>10.3</c:v>
                </c:pt>
                <c:pt idx="2">
                  <c:v>9</c:v>
                </c:pt>
                <c:pt idx="3">
                  <c:v>6.5</c:v>
                </c:pt>
                <c:pt idx="4">
                  <c:v>4.2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CBD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0"/>
        <c:axPos val="l"/>
        <c:majorGridlines>
          <c:spPr>
            <a:ln w="6350" cap="flat">
              <a:solidFill>
                <a:srgbClr val="D9E2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各位老师好！我们小组汇报的题目是《中国海上风电产业链及产业集群布局分析》。按照专题要求，我们以海上风电为前提、以技术问题为核心，从发展现状出发，重点分析制约条件，最后论述发展趋势。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汇报分为五个部分：发展现状、产业链分析、集群布局、制约因素，以及趋势与建议。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发展现状。截至2025年底，我国海上风电累计并网约4700万千瓦，连续5年居全球第一。从左图可以看到，2021年是国家补贴退出前的最后窗口，出现“抢装潮”，当年新增1690万千瓦；2022年进入平价阶段后，年新增稳定在400万到700万千瓦，2025年新增659万千瓦。技术上，20兆瓦级机组已经完成海上吊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进展可以概括为三条主线。第一是机组大型化，单机从2010年的3兆瓦发展到现在12到18兆瓦为主流，因为单机越大，机位、基础、海缆和吊装次数越少，度电成本越低。第二是基础深水化，40米以内用单桩，40到60米用导管架，再深就要用漂浮式。第三是送出柔直化，离岸超过约70公里后，交流海缆充电电流过大，需要采用柔性直流，如东正负400千伏工程是亚洲首个海上柔直工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部分是产业链。海上风电产业链分为上游原材料和关键零部件、中游整机与海工装备、下游开发运维三段。与陆上风电相比，它的特点是部件超大、装备重型、依港布局。从投资构成看，风电机组约占四成，基础与施工安装约占三成，海缆与送出工程约占一到一成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国产化水平看，整机、叶片、海缆和基础施工已经达到国际先进水平，20兆瓦级机组居世界前列。短板集中在“深层次”环节：一是主轴承，超大兆瓦主轴承寿命验证不足；二是高压大功率IGBT，仍较多依赖进口；三是载荷仿真和设计软件，以国外商业软件为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部分是集群布局。“十四五”规划了山东半岛、长三角、闽南、粤东和北部湾五大基地，“十五五”进一步扩展到渤海、黄海、东海、南海四大海域。目前形成了沿海带状、依港集聚、苏粤双核的格局：江苏盐城整机产能约占全国40%、叶片约占20%；广东阳江并网容量约800万千瓦，居全国地级市第一，2025年产业链产值超过187亿元。福建、山东、沪浙和北部湾则各有特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会这样布局？我们总结了四个机制。最根本的是大部件物流：叶片超过120米、单桩超过2000吨，只能走水路，必须在码头“下线即装船”。其次是港口岸线条件、地方“资源换产业”政策，以及整机龙头对配套企业的带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部分是本报告的分析重点——制约因素。技术层面，核心部件存在卡脖子环节，大型化太快导致样机验证不足，深远海柔直成本高，漂浮式造价约为固定式的2到3倍。政策与市场层面，近海用海约束趋紧，电价市场化后收益不确定，右图显示海上风电占全国风电新增的比重从2021年的25.9%降到2025年的4.2%。集群层面，各地同质化布局造成产能过剩和价格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趋势与建议。未来将呈现大型化、深远海、柔直送出、海上风电加制氢和海洋牧场、产业出海五大趋势，预计2030年累计并网有望超过1亿千瓦。布局上，我们建议按四大海域统筹集群，并推动差异化分工：江苏做大兆瓦整机和柔直，沪浙做研发和海缆，福建做强风机组和嵌岩施工，广东做抗台风和漂浮式，山东做海工装备和海上风电加，北部湾面向东盟。同时攻关核心部件、建设国家级试验平台、规范资源换产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总结一下：我国海上风电已形成完整产业链和沿海集群格局，下一步关键是补齐深层次短板，实现从“规模领先”到“技术领先”的转变。我们的汇报到此结束，恳请各位老师批评指正，谢谢！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标题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副标题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中国海上风电产业链及产业集群布局分析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标题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中国海上风电产业链及产业集群布局分析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海上风力发电专题研讨答辩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汇报人：姓名1  姓名2  姓名3  姓名4    东北电力大学 能源与动力工程学院</a:t>
            </a:r>
            <a:endParaRPr lang="en-US" sz="2000" dirty="0"/>
          </a:p>
        </p:txBody>
      </p:sp>
      <p:sp>
        <p:nvSpPr>
          <p:cNvPr id="4" name="cover-circle"/>
          <p:cNvSpPr/>
          <p:nvPr/>
        </p:nvSpPr>
        <p:spPr>
          <a:xfrm>
            <a:off x="731520" y="8229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cover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060704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汇报提纲</a:t>
            </a:r>
            <a:endParaRPr lang="en-US" sz="3200" dirty="0"/>
          </a:p>
        </p:txBody>
      </p:sp>
      <p:sp>
        <p:nvSpPr>
          <p:cNvPr id="4" name="agenda-card-01"/>
          <p:cNvSpPr/>
          <p:nvPr/>
        </p:nvSpPr>
        <p:spPr>
          <a:xfrm>
            <a:off x="548640" y="1645920"/>
            <a:ext cx="2057400" cy="384048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genda-01-circle"/>
          <p:cNvSpPr/>
          <p:nvPr/>
        </p:nvSpPr>
        <p:spPr>
          <a:xfrm>
            <a:off x="1115568" y="201168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agenda-01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3312" y="2249424"/>
            <a:ext cx="438912" cy="4389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1546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01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3703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发展现状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2976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规模与关键技术进展</a:t>
            </a:r>
            <a:endParaRPr lang="en-US" sz="1400" dirty="0"/>
          </a:p>
        </p:txBody>
      </p:sp>
      <p:sp>
        <p:nvSpPr>
          <p:cNvPr id="10" name="agenda-card-02"/>
          <p:cNvSpPr/>
          <p:nvPr/>
        </p:nvSpPr>
        <p:spPr>
          <a:xfrm>
            <a:off x="2816352" y="1645920"/>
            <a:ext cx="2057400" cy="384048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agenda-02-circle"/>
          <p:cNvSpPr/>
          <p:nvPr/>
        </p:nvSpPr>
        <p:spPr>
          <a:xfrm>
            <a:off x="3383280" y="201168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agenda-02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2249424"/>
            <a:ext cx="438912" cy="43891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9232" y="31546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02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999232" y="3703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产业链分析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2999232" y="42976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结构、关键技术与国产化</a:t>
            </a:r>
            <a:endParaRPr lang="en-US" sz="1400" dirty="0"/>
          </a:p>
        </p:txBody>
      </p:sp>
      <p:sp>
        <p:nvSpPr>
          <p:cNvPr id="16" name="agenda-card-03"/>
          <p:cNvSpPr/>
          <p:nvPr/>
        </p:nvSpPr>
        <p:spPr>
          <a:xfrm>
            <a:off x="5084064" y="1645920"/>
            <a:ext cx="2057400" cy="384048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agenda-03-circle"/>
          <p:cNvSpPr/>
          <p:nvPr/>
        </p:nvSpPr>
        <p:spPr>
          <a:xfrm>
            <a:off x="5650992" y="201168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agenda-03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2249424"/>
            <a:ext cx="438912" cy="43891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266944" y="31546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03</a:t>
            </a:r>
            <a:endParaRPr lang="en-US" sz="2200" dirty="0"/>
          </a:p>
        </p:txBody>
      </p:sp>
      <p:sp>
        <p:nvSpPr>
          <p:cNvPr id="20" name="Text 14"/>
          <p:cNvSpPr txBox="1"/>
          <p:nvPr/>
        </p:nvSpPr>
        <p:spPr>
          <a:xfrm>
            <a:off x="5266944" y="3703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集群布局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5266944" y="42976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空间格局与形成机制</a:t>
            </a:r>
            <a:endParaRPr lang="en-US" sz="1400" dirty="0"/>
          </a:p>
        </p:txBody>
      </p:sp>
      <p:sp>
        <p:nvSpPr>
          <p:cNvPr id="22" name="agenda-card-04"/>
          <p:cNvSpPr/>
          <p:nvPr/>
        </p:nvSpPr>
        <p:spPr>
          <a:xfrm>
            <a:off x="7351776" y="1645920"/>
            <a:ext cx="2057400" cy="384048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agenda-04-circle"/>
          <p:cNvSpPr/>
          <p:nvPr/>
        </p:nvSpPr>
        <p:spPr>
          <a:xfrm>
            <a:off x="7918704" y="2011680"/>
            <a:ext cx="914400" cy="9144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4" name="agenda-04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2249424"/>
            <a:ext cx="438912" cy="43891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34656" y="31546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04</a:t>
            </a:r>
            <a:endParaRPr lang="en-US" sz="2200" dirty="0"/>
          </a:p>
        </p:txBody>
      </p:sp>
      <p:sp>
        <p:nvSpPr>
          <p:cNvPr id="26" name="Text 19"/>
          <p:cNvSpPr txBox="1"/>
          <p:nvPr/>
        </p:nvSpPr>
        <p:spPr>
          <a:xfrm>
            <a:off x="7534656" y="3703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制约因素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7534656" y="42976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技术、政策、集群三层面</a:t>
            </a:r>
            <a:endParaRPr lang="en-US" sz="1400" dirty="0"/>
          </a:p>
        </p:txBody>
      </p:sp>
      <p:sp>
        <p:nvSpPr>
          <p:cNvPr id="28" name="agenda-card-05"/>
          <p:cNvSpPr/>
          <p:nvPr/>
        </p:nvSpPr>
        <p:spPr>
          <a:xfrm>
            <a:off x="9619488" y="1645920"/>
            <a:ext cx="2057400" cy="384048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agenda-05-circle"/>
          <p:cNvSpPr/>
          <p:nvPr/>
        </p:nvSpPr>
        <p:spPr>
          <a:xfrm>
            <a:off x="10186416" y="201168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agenda-05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0" y="224942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802368" y="31546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05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9802368" y="37033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趋势与建议</a:t>
            </a:r>
            <a:endParaRPr lang="en-US" sz="2000" dirty="0"/>
          </a:p>
        </p:txBody>
      </p:sp>
      <p:sp>
        <p:nvSpPr>
          <p:cNvPr id="33" name="Text 25"/>
          <p:cNvSpPr txBox="1"/>
          <p:nvPr/>
        </p:nvSpPr>
        <p:spPr>
          <a:xfrm>
            <a:off x="9802368" y="42976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技术趋势与布局优化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规模全球第一，进入平价稳步发展期</a:t>
            </a:r>
            <a:endParaRPr lang="en-US" sz="3200" dirty="0"/>
          </a:p>
        </p:txBody>
      </p:sp>
      <p:graphicFrame>
        <p:nvGraphicFramePr>
          <p:cNvPr id="4" name="chart-new" descr=""/>
          <p:cNvGraphicFramePr/>
          <p:nvPr/>
        </p:nvGraphicFramePr>
        <p:xfrm>
          <a:off x="548640" y="1325880"/>
          <a:ext cx="67665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ush-note"/>
          <p:cNvSpPr txBox="1"/>
          <p:nvPr/>
        </p:nvSpPr>
        <p:spPr>
          <a:xfrm>
            <a:off x="3703320" y="2103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2021年国补退出前“抢装”</a:t>
            </a:r>
            <a:endParaRPr lang="en-US" sz="1200" dirty="0"/>
          </a:p>
        </p:txBody>
      </p:sp>
      <p:sp>
        <p:nvSpPr>
          <p:cNvPr id="6" name="stat-0"/>
          <p:cNvSpPr/>
          <p:nvPr/>
        </p:nvSpPr>
        <p:spPr>
          <a:xfrm>
            <a:off x="7680960" y="1417320"/>
            <a:ext cx="39319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909560" y="15544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约4700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 万千瓦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22585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2025年底累计并网</a:t>
            </a:r>
            <a:endParaRPr lang="en-US" sz="1400" dirty="0"/>
          </a:p>
        </p:txBody>
      </p:sp>
      <p:sp>
        <p:nvSpPr>
          <p:cNvPr id="9" name="stat-1"/>
          <p:cNvSpPr/>
          <p:nvPr/>
        </p:nvSpPr>
        <p:spPr>
          <a:xfrm>
            <a:off x="7680960" y="3017520"/>
            <a:ext cx="39319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09560" y="31546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5年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 连续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909560" y="38587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累计并网规模全球第一</a:t>
            </a:r>
            <a:endParaRPr lang="en-US" sz="1400" dirty="0"/>
          </a:p>
        </p:txBody>
      </p:sp>
      <p:sp>
        <p:nvSpPr>
          <p:cNvPr id="12" name="stat-2"/>
          <p:cNvSpPr/>
          <p:nvPr/>
        </p:nvSpPr>
        <p:spPr>
          <a:xfrm>
            <a:off x="7680960" y="4617720"/>
            <a:ext cx="39319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9560" y="47548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20 MW级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 单机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09560" y="54589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已完成海上吊装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数据来源：国家能源局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三条技术主线：大型化、深水化、柔直化</a:t>
            </a:r>
            <a:endParaRPr lang="en-US" sz="3200" dirty="0"/>
          </a:p>
        </p:txBody>
      </p:sp>
      <p:sp>
        <p:nvSpPr>
          <p:cNvPr id="4" name="tech-card-0"/>
          <p:cNvSpPr/>
          <p:nvPr/>
        </p:nvSpPr>
        <p:spPr>
          <a:xfrm>
            <a:off x="54864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ch-0-circle"/>
          <p:cNvSpPr/>
          <p:nvPr/>
        </p:nvSpPr>
        <p:spPr>
          <a:xfrm>
            <a:off x="822960" y="16459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tech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" y="1848002"/>
            <a:ext cx="373075" cy="3730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6459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机组大型化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9748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 MW（2010东海大桥）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6～8 MW（2020前后）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12～18 MW（当前主流）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20 MW级吊装、26 MW样机并网</a:t>
            </a:r>
            <a:endParaRPr lang="en-US" sz="1500" dirty="0"/>
          </a:p>
        </p:txBody>
      </p:sp>
      <p:sp>
        <p:nvSpPr>
          <p:cNvPr id="9" name="tech-card-1"/>
          <p:cNvSpPr/>
          <p:nvPr/>
        </p:nvSpPr>
        <p:spPr>
          <a:xfrm>
            <a:off x="429768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ch-1-circle"/>
          <p:cNvSpPr/>
          <p:nvPr/>
        </p:nvSpPr>
        <p:spPr>
          <a:xfrm>
            <a:off x="4572000" y="16459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tech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082" y="1848002"/>
            <a:ext cx="373075" cy="37307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532120" y="16459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基础深水化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572000" y="269748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&lt; 40 m：单桩（直径 &gt; 10 m）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40～60 m：导管架 / 吸力筒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&gt; 60 m：漂浮式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引领号→观澜号→领航号(16 MW)</a:t>
            </a:r>
            <a:endParaRPr lang="en-US" sz="1500" dirty="0"/>
          </a:p>
        </p:txBody>
      </p:sp>
      <p:sp>
        <p:nvSpPr>
          <p:cNvPr id="14" name="tech-card-2"/>
          <p:cNvSpPr/>
          <p:nvPr/>
        </p:nvSpPr>
        <p:spPr>
          <a:xfrm>
            <a:off x="8046720" y="1371600"/>
            <a:ext cx="3474720" cy="4663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ch-2-circle"/>
          <p:cNvSpPr/>
          <p:nvPr/>
        </p:nvSpPr>
        <p:spPr>
          <a:xfrm>
            <a:off x="8321040" y="16459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tech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3122" y="1848002"/>
            <a:ext cx="373075" cy="37307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81160" y="16459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送出柔直化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269748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近海：35/66 kV集电 + 220 kV交流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离岸 &gt; 约70 km：充电电流过大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→ 柔性直流（VSC-HVDC）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如东 ±400 kV：亚洲首个海上柔直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产业链：部件超大、装备重型、依港布局</a:t>
            </a:r>
            <a:endParaRPr lang="en-US" sz="3200" dirty="0"/>
          </a:p>
        </p:txBody>
      </p:sp>
      <p:sp>
        <p:nvSpPr>
          <p:cNvPr id="4" name="chain-head-0"/>
          <p:cNvSpPr/>
          <p:nvPr/>
        </p:nvSpPr>
        <p:spPr>
          <a:xfrm>
            <a:off x="548640" y="1371600"/>
            <a:ext cx="347472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371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上游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原材料与关键零部件</a:t>
            </a:r>
            <a:endParaRPr lang="en-US" sz="1400" dirty="0"/>
          </a:p>
        </p:txBody>
      </p:sp>
      <p:sp>
        <p:nvSpPr>
          <p:cNvPr id="6" name="chain-item-0-0"/>
          <p:cNvSpPr/>
          <p:nvPr/>
        </p:nvSpPr>
        <p:spPr>
          <a:xfrm>
            <a:off x="548640" y="2468880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46888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钢材 · 稀土永磁 · 碳纤维</a:t>
            </a:r>
            <a:endParaRPr lang="en-US" sz="1500" dirty="0"/>
          </a:p>
        </p:txBody>
      </p:sp>
      <p:sp>
        <p:nvSpPr>
          <p:cNvPr id="8" name="chain-item-0-1"/>
          <p:cNvSpPr/>
          <p:nvPr/>
        </p:nvSpPr>
        <p:spPr>
          <a:xfrm>
            <a:off x="548640" y="3182112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18211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叶片 · 主轴承 · 齿轮箱</a:t>
            </a:r>
            <a:endParaRPr lang="en-US" sz="1500" dirty="0"/>
          </a:p>
        </p:txBody>
      </p:sp>
      <p:sp>
        <p:nvSpPr>
          <p:cNvPr id="10" name="chain-item-0-2"/>
          <p:cNvSpPr/>
          <p:nvPr/>
        </p:nvSpPr>
        <p:spPr>
          <a:xfrm>
            <a:off x="548640" y="3895344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389534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发电机 · 变流器(IGBT)</a:t>
            </a:r>
            <a:endParaRPr lang="en-US" sz="1500" dirty="0"/>
          </a:p>
        </p:txBody>
      </p:sp>
      <p:sp>
        <p:nvSpPr>
          <p:cNvPr id="12" name="chain-item-0-3"/>
          <p:cNvSpPr/>
          <p:nvPr/>
        </p:nvSpPr>
        <p:spPr>
          <a:xfrm>
            <a:off x="548640" y="4608576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460857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铸锻件 · 变桨 / 偏航</a:t>
            </a:r>
            <a:endParaRPr lang="en-US" sz="1500" dirty="0"/>
          </a:p>
        </p:txBody>
      </p:sp>
      <p:sp>
        <p:nvSpPr>
          <p:cNvPr id="14" name="chain-arrow-0"/>
          <p:cNvSpPr/>
          <p:nvPr/>
        </p:nvSpPr>
        <p:spPr>
          <a:xfrm>
            <a:off x="4078224" y="1664208"/>
            <a:ext cx="164592" cy="329184"/>
          </a:xfrm>
          <a:prstGeom prst="rtTriangl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chain-head-1"/>
          <p:cNvSpPr/>
          <p:nvPr/>
        </p:nvSpPr>
        <p:spPr>
          <a:xfrm>
            <a:off x="4297680" y="1371600"/>
            <a:ext cx="347472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26280" y="1371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中游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整机与海工装备</a:t>
            </a:r>
            <a:endParaRPr lang="en-US" sz="1400" dirty="0"/>
          </a:p>
        </p:txBody>
      </p:sp>
      <p:sp>
        <p:nvSpPr>
          <p:cNvPr id="17" name="chain-item-1-0"/>
          <p:cNvSpPr/>
          <p:nvPr/>
        </p:nvSpPr>
        <p:spPr>
          <a:xfrm>
            <a:off x="4297680" y="2468880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26280" y="246888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整机集成（链主）</a:t>
            </a:r>
            <a:endParaRPr lang="en-US" sz="1500" dirty="0"/>
          </a:p>
        </p:txBody>
      </p:sp>
      <p:sp>
        <p:nvSpPr>
          <p:cNvPr id="19" name="chain-item-1-1"/>
          <p:cNvSpPr/>
          <p:nvPr/>
        </p:nvSpPr>
        <p:spPr>
          <a:xfrm>
            <a:off x="4297680" y="3182112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318211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单桩 / 导管架 / 漂浮式基础</a:t>
            </a:r>
            <a:endParaRPr lang="en-US" sz="1500" dirty="0"/>
          </a:p>
        </p:txBody>
      </p:sp>
      <p:sp>
        <p:nvSpPr>
          <p:cNvPr id="21" name="chain-item-1-2"/>
          <p:cNvSpPr/>
          <p:nvPr/>
        </p:nvSpPr>
        <p:spPr>
          <a:xfrm>
            <a:off x="4297680" y="3895344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26280" y="389534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海缆 · 升压站 · 换流站</a:t>
            </a:r>
            <a:endParaRPr lang="en-US" sz="1500" dirty="0"/>
          </a:p>
        </p:txBody>
      </p:sp>
      <p:sp>
        <p:nvSpPr>
          <p:cNvPr id="23" name="chain-item-1-3"/>
          <p:cNvSpPr/>
          <p:nvPr/>
        </p:nvSpPr>
        <p:spPr>
          <a:xfrm>
            <a:off x="4297680" y="4608576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26280" y="460857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安装船 · 施工吊装</a:t>
            </a:r>
            <a:endParaRPr lang="en-US" sz="1500" dirty="0"/>
          </a:p>
        </p:txBody>
      </p:sp>
      <p:sp>
        <p:nvSpPr>
          <p:cNvPr id="25" name="chain-arrow-1"/>
          <p:cNvSpPr/>
          <p:nvPr/>
        </p:nvSpPr>
        <p:spPr>
          <a:xfrm>
            <a:off x="7827264" y="1664208"/>
            <a:ext cx="164592" cy="329184"/>
          </a:xfrm>
          <a:prstGeom prst="rtTriangl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chain-head-2"/>
          <p:cNvSpPr/>
          <p:nvPr/>
        </p:nvSpPr>
        <p:spPr>
          <a:xfrm>
            <a:off x="8046720" y="1371600"/>
            <a:ext cx="34747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75320" y="1371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下游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开发、运营与服务</a:t>
            </a:r>
            <a:endParaRPr lang="en-US" sz="1400" dirty="0"/>
          </a:p>
        </p:txBody>
      </p:sp>
      <p:sp>
        <p:nvSpPr>
          <p:cNvPr id="28" name="chain-item-2-0"/>
          <p:cNvSpPr/>
          <p:nvPr/>
        </p:nvSpPr>
        <p:spPr>
          <a:xfrm>
            <a:off x="8046720" y="2468880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75320" y="246888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央企主导开发投资</a:t>
            </a:r>
            <a:endParaRPr lang="en-US" sz="1500" dirty="0"/>
          </a:p>
        </p:txBody>
      </p:sp>
      <p:sp>
        <p:nvSpPr>
          <p:cNvPr id="30" name="chain-item-2-1"/>
          <p:cNvSpPr/>
          <p:nvPr/>
        </p:nvSpPr>
        <p:spPr>
          <a:xfrm>
            <a:off x="8046720" y="3182112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18211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并网送出 · 电力交易</a:t>
            </a:r>
            <a:endParaRPr lang="en-US" sz="1500" dirty="0"/>
          </a:p>
        </p:txBody>
      </p:sp>
      <p:sp>
        <p:nvSpPr>
          <p:cNvPr id="32" name="chain-item-2-2"/>
          <p:cNvSpPr/>
          <p:nvPr/>
        </p:nvSpPr>
        <p:spPr>
          <a:xfrm>
            <a:off x="8046720" y="3895344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5320" y="389534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运维船 · 智能监测</a:t>
            </a:r>
            <a:endParaRPr lang="en-US" sz="1500" dirty="0"/>
          </a:p>
        </p:txBody>
      </p:sp>
      <p:sp>
        <p:nvSpPr>
          <p:cNvPr id="34" name="chain-item-2-3"/>
          <p:cNvSpPr/>
          <p:nvPr/>
        </p:nvSpPr>
        <p:spPr>
          <a:xfrm>
            <a:off x="8046720" y="4608576"/>
            <a:ext cx="347472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460857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退役拆除 · 循环利用</a:t>
            </a:r>
            <a:endParaRPr lang="en-US" sz="1500" dirty="0"/>
          </a:p>
        </p:txBody>
      </p:sp>
      <p:sp>
        <p:nvSpPr>
          <p:cNvPr id="36" name="invest-bar"/>
          <p:cNvSpPr/>
          <p:nvPr/>
        </p:nvSpPr>
        <p:spPr>
          <a:xfrm>
            <a:off x="548640" y="5440680"/>
            <a:ext cx="10972800" cy="685800"/>
          </a:xfrm>
          <a:prstGeom prst="roundRect">
            <a:avLst>
              <a:gd name="adj" fmla="val 16000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4406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初始投资构成（一般情况）：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风电机组（含塔筒）约40%   ·   基础与施工安装约30%   ·   海缆与送出工程约10%～15%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国产化：整机领先，短板在“深层次”环节</a:t>
            </a:r>
            <a:endParaRPr lang="en-US" sz="3200" dirty="0"/>
          </a:p>
        </p:txBody>
      </p:sp>
      <p:sp>
        <p:nvSpPr>
          <p:cNvPr id="4" name="loc-0"/>
          <p:cNvSpPr/>
          <p:nvPr/>
        </p:nvSpPr>
        <p:spPr>
          <a:xfrm>
            <a:off x="548640" y="141732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41732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整机</a:t>
            </a:r>
            <a:endParaRPr lang="en-US" sz="1700" dirty="0"/>
          </a:p>
        </p:txBody>
      </p:sp>
      <p:sp>
        <p:nvSpPr>
          <p:cNvPr id="6" name="loc-0-bar0"/>
          <p:cNvSpPr/>
          <p:nvPr/>
        </p:nvSpPr>
        <p:spPr>
          <a:xfrm>
            <a:off x="2651760" y="1600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loc-0-bar1"/>
          <p:cNvSpPr/>
          <p:nvPr/>
        </p:nvSpPr>
        <p:spPr>
          <a:xfrm>
            <a:off x="3035808" y="1600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loc-0-bar2"/>
          <p:cNvSpPr/>
          <p:nvPr/>
        </p:nvSpPr>
        <p:spPr>
          <a:xfrm>
            <a:off x="3419856" y="1600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loc-0-bar3"/>
          <p:cNvSpPr/>
          <p:nvPr/>
        </p:nvSpPr>
        <p:spPr>
          <a:xfrm>
            <a:off x="3803904" y="1600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51960" y="1508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高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65176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MW级机组居世界前列</a:t>
            </a:r>
            <a:endParaRPr lang="en-US" sz="1300" dirty="0"/>
          </a:p>
        </p:txBody>
      </p:sp>
      <p:sp>
        <p:nvSpPr>
          <p:cNvPr id="12" name="loc-1"/>
          <p:cNvSpPr/>
          <p:nvPr/>
        </p:nvSpPr>
        <p:spPr>
          <a:xfrm>
            <a:off x="548640" y="256032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256032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叶片</a:t>
            </a:r>
            <a:endParaRPr lang="en-US" sz="1700" dirty="0"/>
          </a:p>
        </p:txBody>
      </p:sp>
      <p:sp>
        <p:nvSpPr>
          <p:cNvPr id="14" name="loc-1-bar0"/>
          <p:cNvSpPr/>
          <p:nvPr/>
        </p:nvSpPr>
        <p:spPr>
          <a:xfrm>
            <a:off x="2651760" y="2743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loc-1-bar1"/>
          <p:cNvSpPr/>
          <p:nvPr/>
        </p:nvSpPr>
        <p:spPr>
          <a:xfrm>
            <a:off x="3035808" y="2743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loc-1-bar2"/>
          <p:cNvSpPr/>
          <p:nvPr/>
        </p:nvSpPr>
        <p:spPr>
          <a:xfrm>
            <a:off x="3419856" y="2743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loc-1-bar3"/>
          <p:cNvSpPr/>
          <p:nvPr/>
        </p:nvSpPr>
        <p:spPr>
          <a:xfrm>
            <a:off x="3803904" y="2743200"/>
            <a:ext cx="310896" cy="201168"/>
          </a:xfrm>
          <a:prstGeom prst="roundRect">
            <a:avLst>
              <a:gd name="adj" fmla="val 22727"/>
            </a:avLst>
          </a:prstGeom>
          <a:solidFill>
            <a:srgbClr val="D9E2E8"/>
          </a:solidFill>
          <a:ln w="12700">
            <a:solidFill>
              <a:srgbClr val="D9E2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251960" y="2651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较高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651760" y="3063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碳纤维、芯材部分进口</a:t>
            </a:r>
            <a:endParaRPr lang="en-US" sz="1300" dirty="0"/>
          </a:p>
        </p:txBody>
      </p:sp>
      <p:sp>
        <p:nvSpPr>
          <p:cNvPr id="20" name="loc-2"/>
          <p:cNvSpPr/>
          <p:nvPr/>
        </p:nvSpPr>
        <p:spPr>
          <a:xfrm>
            <a:off x="548640" y="370332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70332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海缆</a:t>
            </a:r>
            <a:endParaRPr lang="en-US" sz="1700" dirty="0"/>
          </a:p>
        </p:txBody>
      </p:sp>
      <p:sp>
        <p:nvSpPr>
          <p:cNvPr id="22" name="loc-2-bar0"/>
          <p:cNvSpPr/>
          <p:nvPr/>
        </p:nvSpPr>
        <p:spPr>
          <a:xfrm>
            <a:off x="2651760" y="3886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loc-2-bar1"/>
          <p:cNvSpPr/>
          <p:nvPr/>
        </p:nvSpPr>
        <p:spPr>
          <a:xfrm>
            <a:off x="3035808" y="3886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loc-2-bar2"/>
          <p:cNvSpPr/>
          <p:nvPr/>
        </p:nvSpPr>
        <p:spPr>
          <a:xfrm>
            <a:off x="3419856" y="3886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loc-2-bar3"/>
          <p:cNvSpPr/>
          <p:nvPr/>
        </p:nvSpPr>
        <p:spPr>
          <a:xfrm>
            <a:off x="3803904" y="3886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251960" y="3794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高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176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直流绝缘料部分进口</a:t>
            </a:r>
            <a:endParaRPr lang="en-US" sz="1300" dirty="0"/>
          </a:p>
        </p:txBody>
      </p:sp>
      <p:sp>
        <p:nvSpPr>
          <p:cNvPr id="28" name="loc-3"/>
          <p:cNvSpPr/>
          <p:nvPr/>
        </p:nvSpPr>
        <p:spPr>
          <a:xfrm>
            <a:off x="548640" y="484632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77240" y="484632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基础 / 施工</a:t>
            </a:r>
            <a:endParaRPr lang="en-US" sz="1700" dirty="0"/>
          </a:p>
        </p:txBody>
      </p:sp>
      <p:sp>
        <p:nvSpPr>
          <p:cNvPr id="30" name="loc-3-bar0"/>
          <p:cNvSpPr/>
          <p:nvPr/>
        </p:nvSpPr>
        <p:spPr>
          <a:xfrm>
            <a:off x="2651760" y="5029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loc-3-bar1"/>
          <p:cNvSpPr/>
          <p:nvPr/>
        </p:nvSpPr>
        <p:spPr>
          <a:xfrm>
            <a:off x="3035808" y="5029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loc-3-bar2"/>
          <p:cNvSpPr/>
          <p:nvPr/>
        </p:nvSpPr>
        <p:spPr>
          <a:xfrm>
            <a:off x="3419856" y="5029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3" name="loc-3-bar3"/>
          <p:cNvSpPr/>
          <p:nvPr/>
        </p:nvSpPr>
        <p:spPr>
          <a:xfrm>
            <a:off x="3803904" y="5029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51960" y="4937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高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349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漂浮式系泊经验不足</a:t>
            </a:r>
            <a:endParaRPr lang="en-US" sz="1300" dirty="0"/>
          </a:p>
        </p:txBody>
      </p:sp>
      <p:sp>
        <p:nvSpPr>
          <p:cNvPr id="36" name="loc-4"/>
          <p:cNvSpPr/>
          <p:nvPr/>
        </p:nvSpPr>
        <p:spPr>
          <a:xfrm>
            <a:off x="6217920" y="141732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46520" y="141732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齿轮箱 / 发电机</a:t>
            </a:r>
            <a:endParaRPr lang="en-US" sz="1700" dirty="0"/>
          </a:p>
        </p:txBody>
      </p:sp>
      <p:sp>
        <p:nvSpPr>
          <p:cNvPr id="38" name="loc-4-bar0"/>
          <p:cNvSpPr/>
          <p:nvPr/>
        </p:nvSpPr>
        <p:spPr>
          <a:xfrm>
            <a:off x="8321040" y="1600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loc-4-bar1"/>
          <p:cNvSpPr/>
          <p:nvPr/>
        </p:nvSpPr>
        <p:spPr>
          <a:xfrm>
            <a:off x="8705088" y="1600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loc-4-bar2"/>
          <p:cNvSpPr/>
          <p:nvPr/>
        </p:nvSpPr>
        <p:spPr>
          <a:xfrm>
            <a:off x="9089136" y="1600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1" name="loc-4-bar3"/>
          <p:cNvSpPr/>
          <p:nvPr/>
        </p:nvSpPr>
        <p:spPr>
          <a:xfrm>
            <a:off x="9473184" y="1600200"/>
            <a:ext cx="310896" cy="201168"/>
          </a:xfrm>
          <a:prstGeom prst="roundRect">
            <a:avLst>
              <a:gd name="adj" fmla="val 22727"/>
            </a:avLst>
          </a:prstGeom>
          <a:solidFill>
            <a:srgbClr val="D9E2E8"/>
          </a:solidFill>
          <a:ln w="12700">
            <a:solidFill>
              <a:srgbClr val="D9E2E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921240" y="1508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较高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32104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中速齿轮箱配套能力强</a:t>
            </a:r>
            <a:endParaRPr lang="en-US" sz="1300" dirty="0"/>
          </a:p>
        </p:txBody>
      </p:sp>
      <p:sp>
        <p:nvSpPr>
          <p:cNvPr id="44" name="loc-5"/>
          <p:cNvSpPr/>
          <p:nvPr/>
        </p:nvSpPr>
        <p:spPr>
          <a:xfrm>
            <a:off x="6217920" y="256032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46520" y="256032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主轴承</a:t>
            </a:r>
            <a:endParaRPr lang="en-US" sz="1700" dirty="0"/>
          </a:p>
        </p:txBody>
      </p:sp>
      <p:sp>
        <p:nvSpPr>
          <p:cNvPr id="46" name="loc-5-bar0"/>
          <p:cNvSpPr/>
          <p:nvPr/>
        </p:nvSpPr>
        <p:spPr>
          <a:xfrm>
            <a:off x="8321040" y="2743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7" name="loc-5-bar1"/>
          <p:cNvSpPr/>
          <p:nvPr/>
        </p:nvSpPr>
        <p:spPr>
          <a:xfrm>
            <a:off x="8705088" y="2743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8" name="loc-5-bar2"/>
          <p:cNvSpPr/>
          <p:nvPr/>
        </p:nvSpPr>
        <p:spPr>
          <a:xfrm>
            <a:off x="9089136" y="2743200"/>
            <a:ext cx="310896" cy="201168"/>
          </a:xfrm>
          <a:prstGeom prst="roundRect">
            <a:avLst>
              <a:gd name="adj" fmla="val 22727"/>
            </a:avLst>
          </a:prstGeom>
          <a:solidFill>
            <a:srgbClr val="D9E2E8"/>
          </a:solidFill>
          <a:ln w="12700">
            <a:solidFill>
              <a:srgbClr val="D9E2E8"/>
            </a:solidFill>
            <a:prstDash val="solid"/>
          </a:ln>
        </p:spPr>
      </p:sp>
      <p:sp>
        <p:nvSpPr>
          <p:cNvPr id="49" name="loc-5-bar3"/>
          <p:cNvSpPr/>
          <p:nvPr/>
        </p:nvSpPr>
        <p:spPr>
          <a:xfrm>
            <a:off x="9473184" y="2743200"/>
            <a:ext cx="310896" cy="201168"/>
          </a:xfrm>
          <a:prstGeom prst="roundRect">
            <a:avLst>
              <a:gd name="adj" fmla="val 22727"/>
            </a:avLst>
          </a:prstGeom>
          <a:solidFill>
            <a:srgbClr val="D9E2E8"/>
          </a:solidFill>
          <a:ln w="12700">
            <a:solidFill>
              <a:srgbClr val="D9E2E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921240" y="2651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8321040" y="3063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超大兆瓦主轴承验证不足</a:t>
            </a:r>
            <a:endParaRPr lang="en-US" sz="1300" dirty="0"/>
          </a:p>
        </p:txBody>
      </p:sp>
      <p:sp>
        <p:nvSpPr>
          <p:cNvPr id="52" name="loc-6"/>
          <p:cNvSpPr/>
          <p:nvPr/>
        </p:nvSpPr>
        <p:spPr>
          <a:xfrm>
            <a:off x="6217920" y="370332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446520" y="370332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变流器 / IGBT</a:t>
            </a:r>
            <a:endParaRPr lang="en-US" sz="1700" dirty="0"/>
          </a:p>
        </p:txBody>
      </p:sp>
      <p:sp>
        <p:nvSpPr>
          <p:cNvPr id="54" name="loc-6-bar0"/>
          <p:cNvSpPr/>
          <p:nvPr/>
        </p:nvSpPr>
        <p:spPr>
          <a:xfrm>
            <a:off x="8321040" y="3886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5" name="loc-6-bar1"/>
          <p:cNvSpPr/>
          <p:nvPr/>
        </p:nvSpPr>
        <p:spPr>
          <a:xfrm>
            <a:off x="8705088" y="3886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6" name="loc-6-bar2"/>
          <p:cNvSpPr/>
          <p:nvPr/>
        </p:nvSpPr>
        <p:spPr>
          <a:xfrm>
            <a:off x="9089136" y="3886200"/>
            <a:ext cx="310896" cy="201168"/>
          </a:xfrm>
          <a:prstGeom prst="roundRect">
            <a:avLst>
              <a:gd name="adj" fmla="val 22727"/>
            </a:avLst>
          </a:prstGeom>
          <a:solidFill>
            <a:srgbClr val="D9E2E8"/>
          </a:solidFill>
          <a:ln w="12700">
            <a:solidFill>
              <a:srgbClr val="D9E2E8"/>
            </a:solidFill>
            <a:prstDash val="solid"/>
          </a:ln>
        </p:spPr>
      </p:sp>
      <p:sp>
        <p:nvSpPr>
          <p:cNvPr id="57" name="loc-6-bar3"/>
          <p:cNvSpPr/>
          <p:nvPr/>
        </p:nvSpPr>
        <p:spPr>
          <a:xfrm>
            <a:off x="9473184" y="3886200"/>
            <a:ext cx="310896" cy="201168"/>
          </a:xfrm>
          <a:prstGeom prst="roundRect">
            <a:avLst>
              <a:gd name="adj" fmla="val 22727"/>
            </a:avLst>
          </a:prstGeom>
          <a:solidFill>
            <a:srgbClr val="D9E2E8"/>
          </a:solidFill>
          <a:ln w="12700">
            <a:solidFill>
              <a:srgbClr val="D9E2E8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9921240" y="3794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中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832104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高压大功率IGBT依赖进口</a:t>
            </a:r>
            <a:endParaRPr lang="en-US" sz="1300" dirty="0"/>
          </a:p>
        </p:txBody>
      </p:sp>
      <p:sp>
        <p:nvSpPr>
          <p:cNvPr id="60" name="loc-7"/>
          <p:cNvSpPr/>
          <p:nvPr/>
        </p:nvSpPr>
        <p:spPr>
          <a:xfrm>
            <a:off x="6217920" y="484632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46520" y="484632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设计仿真软件</a:t>
            </a:r>
            <a:endParaRPr lang="en-US" sz="1700" dirty="0"/>
          </a:p>
        </p:txBody>
      </p:sp>
      <p:sp>
        <p:nvSpPr>
          <p:cNvPr id="62" name="loc-7-bar0"/>
          <p:cNvSpPr/>
          <p:nvPr/>
        </p:nvSpPr>
        <p:spPr>
          <a:xfrm>
            <a:off x="8321040" y="5029200"/>
            <a:ext cx="310896" cy="201168"/>
          </a:xfrm>
          <a:prstGeom prst="roundRect">
            <a:avLst>
              <a:gd name="adj" fmla="val 2272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3" name="loc-7-bar1"/>
          <p:cNvSpPr/>
          <p:nvPr/>
        </p:nvSpPr>
        <p:spPr>
          <a:xfrm>
            <a:off x="8705088" y="5029200"/>
            <a:ext cx="310896" cy="201168"/>
          </a:xfrm>
          <a:prstGeom prst="roundRect">
            <a:avLst>
              <a:gd name="adj" fmla="val 22727"/>
            </a:avLst>
          </a:prstGeom>
          <a:solidFill>
            <a:srgbClr val="D9E2E8"/>
          </a:solidFill>
          <a:ln w="12700">
            <a:solidFill>
              <a:srgbClr val="D9E2E8"/>
            </a:solidFill>
            <a:prstDash val="solid"/>
          </a:ln>
        </p:spPr>
      </p:sp>
      <p:sp>
        <p:nvSpPr>
          <p:cNvPr id="64" name="loc-7-bar2"/>
          <p:cNvSpPr/>
          <p:nvPr/>
        </p:nvSpPr>
        <p:spPr>
          <a:xfrm>
            <a:off x="9089136" y="5029200"/>
            <a:ext cx="310896" cy="201168"/>
          </a:xfrm>
          <a:prstGeom prst="roundRect">
            <a:avLst>
              <a:gd name="adj" fmla="val 22727"/>
            </a:avLst>
          </a:prstGeom>
          <a:solidFill>
            <a:srgbClr val="D9E2E8"/>
          </a:solidFill>
          <a:ln w="12700">
            <a:solidFill>
              <a:srgbClr val="D9E2E8"/>
            </a:solidFill>
            <a:prstDash val="solid"/>
          </a:ln>
        </p:spPr>
      </p:sp>
      <p:sp>
        <p:nvSpPr>
          <p:cNvPr id="65" name="loc-7-bar3"/>
          <p:cNvSpPr/>
          <p:nvPr/>
        </p:nvSpPr>
        <p:spPr>
          <a:xfrm>
            <a:off x="9473184" y="5029200"/>
            <a:ext cx="310896" cy="201168"/>
          </a:xfrm>
          <a:prstGeom prst="roundRect">
            <a:avLst>
              <a:gd name="adj" fmla="val 22727"/>
            </a:avLst>
          </a:prstGeom>
          <a:solidFill>
            <a:srgbClr val="D9E2E8"/>
          </a:solidFill>
          <a:ln w="12700">
            <a:solidFill>
              <a:srgbClr val="D9E2E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9921240" y="4937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低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8321040" y="5349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以国外商业软件为主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集群格局：沿海带状、依港集聚、苏粤双核</a:t>
            </a:r>
            <a:endParaRPr lang="en-US" sz="3200" dirty="0"/>
          </a:p>
        </p:txBody>
      </p:sp>
      <p:pic>
        <p:nvPicPr>
          <p:cNvPr id="4" name="cluster-schematic" descr="/tmp/claude-0/-home-user-repo1/0a685774-457d-5669-ad23-f873f870951a/scratchpad/build/fig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7489767" cy="4846320"/>
          </a:xfrm>
          <a:prstGeom prst="rect">
            <a:avLst/>
          </a:prstGeom>
        </p:spPr>
      </p:pic>
      <p:sp>
        <p:nvSpPr>
          <p:cNvPr id="5" name="core-0"/>
          <p:cNvSpPr/>
          <p:nvPr/>
        </p:nvSpPr>
        <p:spPr>
          <a:xfrm>
            <a:off x="8138160" y="137160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321040" y="1508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江苏盐城—南通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321040" y="2057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40%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整机产能占全国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9921240" y="2057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20%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9921240" y="26974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叶片产能占全国</a:t>
            </a:r>
            <a:endParaRPr lang="en-US" sz="1200" dirty="0"/>
          </a:p>
        </p:txBody>
      </p:sp>
      <p:sp>
        <p:nvSpPr>
          <p:cNvPr id="11" name="core-1"/>
          <p:cNvSpPr/>
          <p:nvPr/>
        </p:nvSpPr>
        <p:spPr>
          <a:xfrm>
            <a:off x="8138160" y="374904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321040" y="3886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广东阳江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8321040" y="4434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801.66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321040" y="50749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万千瓦并网，地级市第一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921240" y="4434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187亿</a:t>
            </a:r>
            <a:endParaRPr lang="en-US" sz="2800" dirty="0"/>
          </a:p>
        </p:txBody>
      </p:sp>
      <p:sp>
        <p:nvSpPr>
          <p:cNvPr id="16" name="Text 12"/>
          <p:cNvSpPr txBox="1"/>
          <p:nvPr/>
        </p:nvSpPr>
        <p:spPr>
          <a:xfrm>
            <a:off x="9921240" y="50749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2025年产业链产值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138160" y="5989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“十四五”五大基地 → “十五五”四大海域（渤海、黄海、东海、南海）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为什么这样布局：四大形成机制</a:t>
            </a:r>
            <a:endParaRPr lang="en-US" sz="3200" dirty="0"/>
          </a:p>
        </p:txBody>
      </p:sp>
      <p:sp>
        <p:nvSpPr>
          <p:cNvPr id="4" name="mech-0"/>
          <p:cNvSpPr/>
          <p:nvPr/>
        </p:nvSpPr>
        <p:spPr>
          <a:xfrm>
            <a:off x="548640" y="1417320"/>
            <a:ext cx="53035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mech-0-circle"/>
          <p:cNvSpPr/>
          <p:nvPr/>
        </p:nvSpPr>
        <p:spPr>
          <a:xfrm>
            <a:off x="868680" y="1965960"/>
            <a:ext cx="1005840" cy="10058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mech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198" y="2227478"/>
            <a:ext cx="482803" cy="48280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0" y="1737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大部件物流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2194560" y="22860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叶片 &gt; 120 m、单桩 &gt; 2000 t，只能水运，必须“下线即装船”</a:t>
            </a:r>
            <a:endParaRPr lang="en-US" sz="1500" dirty="0"/>
          </a:p>
        </p:txBody>
      </p:sp>
      <p:sp>
        <p:nvSpPr>
          <p:cNvPr id="9" name="mech-1"/>
          <p:cNvSpPr/>
          <p:nvPr/>
        </p:nvSpPr>
        <p:spPr>
          <a:xfrm>
            <a:off x="6126480" y="1417320"/>
            <a:ext cx="53035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mech-1-circle"/>
          <p:cNvSpPr/>
          <p:nvPr/>
        </p:nvSpPr>
        <p:spPr>
          <a:xfrm>
            <a:off x="6446520" y="196596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mech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038" y="2227478"/>
            <a:ext cx="482803" cy="48280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772400" y="1737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港口岸线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7772400" y="22860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重件码头承载力、前沿水深与堆场面积构成硬约束</a:t>
            </a:r>
            <a:endParaRPr lang="en-US" sz="1500" dirty="0"/>
          </a:p>
        </p:txBody>
      </p:sp>
      <p:sp>
        <p:nvSpPr>
          <p:cNvPr id="14" name="mech-2"/>
          <p:cNvSpPr/>
          <p:nvPr/>
        </p:nvSpPr>
        <p:spPr>
          <a:xfrm>
            <a:off x="548640" y="3794760"/>
            <a:ext cx="53035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mech-2-circle"/>
          <p:cNvSpPr/>
          <p:nvPr/>
        </p:nvSpPr>
        <p:spPr>
          <a:xfrm>
            <a:off x="868680" y="434340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mech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198" y="4604918"/>
            <a:ext cx="482803" cy="48280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194560" y="41148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地方政策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2194560" y="46634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“资源换产业”：项目资源配置绑定装备落地</a:t>
            </a:r>
            <a:endParaRPr lang="en-US" sz="1500" dirty="0"/>
          </a:p>
        </p:txBody>
      </p:sp>
      <p:sp>
        <p:nvSpPr>
          <p:cNvPr id="19" name="mech-3"/>
          <p:cNvSpPr/>
          <p:nvPr/>
        </p:nvSpPr>
        <p:spPr>
          <a:xfrm>
            <a:off x="6126480" y="3794760"/>
            <a:ext cx="53035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mech-3-circle"/>
          <p:cNvSpPr/>
          <p:nvPr/>
        </p:nvSpPr>
        <p:spPr>
          <a:xfrm>
            <a:off x="6446520" y="434340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mech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8038" y="4604918"/>
            <a:ext cx="482803" cy="48280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772400" y="41148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龙头带动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0" y="46634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整机链主带动叶片、塔筒、海缆配套就近集聚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其中“大部件物流”是由技术参数决定的根本原因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制约因素：技术、政策市场、集群三个层面</a:t>
            </a:r>
            <a:endParaRPr lang="en-US" sz="3200" dirty="0"/>
          </a:p>
        </p:txBody>
      </p:sp>
      <p:sp>
        <p:nvSpPr>
          <p:cNvPr id="4" name="cons-0"/>
          <p:cNvSpPr/>
          <p:nvPr/>
        </p:nvSpPr>
        <p:spPr>
          <a:xfrm>
            <a:off x="548640" y="1371600"/>
            <a:ext cx="630936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481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技术层面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2286000" y="1481328"/>
            <a:ext cx="4434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主轴承、IGBT、碳纤维、设计软件“卡脖子”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大型化快、样机验证不足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深远海柔直成本高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漂浮式造价约为固定式2～3倍</a:t>
            </a:r>
            <a:endParaRPr lang="en-US" sz="1400" dirty="0"/>
          </a:p>
        </p:txBody>
      </p:sp>
      <p:sp>
        <p:nvSpPr>
          <p:cNvPr id="7" name="cons-1"/>
          <p:cNvSpPr/>
          <p:nvPr/>
        </p:nvSpPr>
        <p:spPr>
          <a:xfrm>
            <a:off x="548640" y="3246120"/>
            <a:ext cx="6309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3558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政策与市场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3355848"/>
            <a:ext cx="4434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生态红线、航道、军事用海约束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深远海用海管理制度待完善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电价市场化后收益不确定</a:t>
            </a:r>
            <a:endParaRPr lang="en-US" sz="1400" dirty="0"/>
          </a:p>
        </p:txBody>
      </p:sp>
      <p:sp>
        <p:nvSpPr>
          <p:cNvPr id="10" name="cons-2"/>
          <p:cNvSpPr/>
          <p:nvPr/>
        </p:nvSpPr>
        <p:spPr>
          <a:xfrm>
            <a:off x="548640" y="4754880"/>
            <a:ext cx="6309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8646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集群层面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286000" y="4864608"/>
            <a:ext cx="4434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同质化布局、名义产能过剩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整机投标价降幅超一半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“资源换产业”造成市场分割</a:t>
            </a:r>
            <a:endParaRPr lang="en-US" sz="1400" dirty="0"/>
          </a:p>
        </p:txBody>
      </p:sp>
      <p:graphicFrame>
        <p:nvGraphicFramePr>
          <p:cNvPr id="13" name="chart-share" descr=""/>
          <p:cNvGraphicFramePr/>
          <p:nvPr/>
        </p:nvGraphicFramePr>
        <p:xfrm>
          <a:off x="7132320" y="1325880"/>
          <a:ext cx="4480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7132320" y="55778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数据来源：CWEA；需求相对偏弱，与制造端产能扩张形成反差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趋势与建议：从“规模领先”到“技术领先”</a:t>
            </a:r>
            <a:endParaRPr lang="en-US" sz="3200" dirty="0"/>
          </a:p>
        </p:txBody>
      </p:sp>
      <p:sp>
        <p:nvSpPr>
          <p:cNvPr id="4" name="trend-card"/>
          <p:cNvSpPr/>
          <p:nvPr/>
        </p:nvSpPr>
        <p:spPr>
          <a:xfrm>
            <a:off x="54864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08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五大趋势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657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大型化：15～20 MW主流，25 MW+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深远海：2030年累计有望超1亿千瓦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送出：±500 kV柔直、低频交流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海上风电+：制氢、海洋牧场、储能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产业出海：整机、单桩、海缆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892040" y="14173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集群差异化分工建议</a:t>
            </a:r>
            <a:endParaRPr lang="en-US" sz="1900" dirty="0"/>
          </a:p>
        </p:txBody>
      </p:sp>
      <p:sp>
        <p:nvSpPr>
          <p:cNvPr id="8" name="div-0"/>
          <p:cNvSpPr/>
          <p:nvPr/>
        </p:nvSpPr>
        <p:spPr>
          <a:xfrm>
            <a:off x="4892040" y="1965960"/>
            <a:ext cx="324612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74920" y="1965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江苏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19659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大兆瓦整机、柔直送出、运维服务</a:t>
            </a:r>
            <a:endParaRPr lang="en-US" sz="1300" dirty="0"/>
          </a:p>
        </p:txBody>
      </p:sp>
      <p:sp>
        <p:nvSpPr>
          <p:cNvPr id="11" name="div-1"/>
          <p:cNvSpPr/>
          <p:nvPr/>
        </p:nvSpPr>
        <p:spPr>
          <a:xfrm>
            <a:off x="8275320" y="1965960"/>
            <a:ext cx="324612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58200" y="1965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沪浙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281160" y="19659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研发设计、海缆、电力电子装备</a:t>
            </a:r>
            <a:endParaRPr lang="en-US" sz="1300" dirty="0"/>
          </a:p>
        </p:txBody>
      </p:sp>
      <p:sp>
        <p:nvSpPr>
          <p:cNvPr id="14" name="div-2"/>
          <p:cNvSpPr/>
          <p:nvPr/>
        </p:nvSpPr>
        <p:spPr>
          <a:xfrm>
            <a:off x="4892040" y="2926080"/>
            <a:ext cx="324612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2926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福建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9260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强风机组、嵌岩基础施工</a:t>
            </a:r>
            <a:endParaRPr lang="en-US" sz="1300" dirty="0"/>
          </a:p>
        </p:txBody>
      </p:sp>
      <p:sp>
        <p:nvSpPr>
          <p:cNvPr id="17" name="div-3"/>
          <p:cNvSpPr/>
          <p:nvPr/>
        </p:nvSpPr>
        <p:spPr>
          <a:xfrm>
            <a:off x="8275320" y="2926080"/>
            <a:ext cx="324612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58200" y="2926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广东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9281160" y="29260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抗台风机组、漂浮式、检测认证</a:t>
            </a:r>
            <a:endParaRPr lang="en-US" sz="1300" dirty="0"/>
          </a:p>
        </p:txBody>
      </p:sp>
      <p:sp>
        <p:nvSpPr>
          <p:cNvPr id="20" name="div-4"/>
          <p:cNvSpPr/>
          <p:nvPr/>
        </p:nvSpPr>
        <p:spPr>
          <a:xfrm>
            <a:off x="4892040" y="3886200"/>
            <a:ext cx="324612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3886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山东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897880" y="3886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海工装备、钢结构出口、海上风电+</a:t>
            </a:r>
            <a:endParaRPr lang="en-US" sz="1300" dirty="0"/>
          </a:p>
        </p:txBody>
      </p:sp>
      <p:sp>
        <p:nvSpPr>
          <p:cNvPr id="23" name="div-5"/>
          <p:cNvSpPr/>
          <p:nvPr/>
        </p:nvSpPr>
        <p:spPr>
          <a:xfrm>
            <a:off x="8275320" y="3886200"/>
            <a:ext cx="324612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58200" y="3886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北部湾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281160" y="3886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深远海示范、面向东盟出口</a:t>
            </a:r>
            <a:endParaRPr lang="en-US" sz="1300" dirty="0"/>
          </a:p>
        </p:txBody>
      </p:sp>
      <p:sp>
        <p:nvSpPr>
          <p:cNvPr id="26" name="support-card"/>
          <p:cNvSpPr/>
          <p:nvPr/>
        </p:nvSpPr>
        <p:spPr>
          <a:xfrm>
            <a:off x="4892040" y="4983480"/>
            <a:ext cx="6629400" cy="1143000"/>
          </a:xfrm>
          <a:prstGeom prst="roundRect">
            <a:avLst>
              <a:gd name="adj" fmla="val 9600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120640" y="4983480"/>
            <a:ext cx="6263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配套措施：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按四大海域统筹集群 · 攻关主轴承/IGBT/软件 · 建设国家级试验平台 · 规范“资源换产业” · 共享港口与船机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结论：产业链已成，下一步补齐“深层次”短板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规模：约4700万千瓦，连续5年全球第一；单机迈入20 MW级</a:t>
            </a:r>
            <a:endParaRPr lang="en-US" sz="2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布局：沿海带状、依港集聚，苏粤双核、多点特色</a:t>
            </a:r>
            <a:endParaRPr lang="en-US" sz="2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方向：深远海与大型化牵引，按海域统筹、集群差异化分工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汇报完毕，恳请各位老师批评指正！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shore Wind">
  <a:themeElements>
    <a:clrScheme name="Offshore Wind">
      <a:dk1>
        <a:srgbClr val="1B2733"/>
      </a:dk1>
      <a:lt1>
        <a:srgbClr val="FFFFFF"/>
      </a:lt1>
      <a:dk2>
        <a:srgbClr val="0B3C5D"/>
      </a:dk2>
      <a:lt2>
        <a:srgbClr val="EEF4F8"/>
      </a:lt2>
      <a:accent1>
        <a:srgbClr val="1F6F9F"/>
      </a:accent1>
      <a:accent2>
        <a:srgbClr val="2A9D8F"/>
      </a:accent2>
      <a:accent3>
        <a:srgbClr val="E9A23B"/>
      </a:accent3>
      <a:accent4>
        <a:srgbClr val="8AA6B8"/>
      </a:accent4>
      <a:accent5>
        <a:srgbClr val="C0573E"/>
      </a:accent5>
      <a:accent6>
        <a:srgbClr val="5C6B73"/>
      </a:accent6>
      <a:hlink>
        <a:srgbClr val="1F6F9F"/>
      </a:hlink>
      <a:folHlink>
        <a:srgbClr val="5C6B73"/>
      </a:folHlink>
    </a:clrScheme>
    <a:fontScheme name="Offshore Wind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中国海上风电产业链及产业集群布局分析</dc:title>
  <dc:subject>PptxGenJS Presentation</dc:subject>
  <dc:creator>PptxGenJS</dc:creator>
  <cp:lastModifiedBy>PptxGenJS</cp:lastModifiedBy>
  <cp:revision>1</cp:revision>
  <dcterms:created xsi:type="dcterms:W3CDTF">2026-10-28T17:37:13Z</dcterms:created>
  <dcterms:modified xsi:type="dcterms:W3CDTF">2026-10-28T17:37:13Z</dcterms:modified>
</cp:coreProperties>
</file>