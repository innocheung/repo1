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7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0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f2a08b70-8816-1553-3bfc-4c03ec4d1ae0}">
          <p14:sldIdLst>
            <p14:sldId id="256"/>
            <p14:sldId id="257"/>
          </p14:sldIdLst>
        </p14:section>
        <p14:section name="01 项目概览" id="{8d9577c4-f74b-8612-5803-23f8d3bdc191}">
          <p14:sldIdLst>
            <p14:sldId id="258"/>
            <p14:sldId id="259"/>
            <p14:sldId id="260"/>
            <p14:sldId id="261"/>
          </p14:sldIdLst>
        </p14:section>
        <p14:section name="02 市场分析" id="{9f1a4abc-b597-6cb6-7e93-80672081c5dc}">
          <p14:sldIdLst>
            <p14:sldId id="262"/>
            <p14:sldId id="263"/>
            <p14:sldId id="264"/>
          </p14:sldIdLst>
        </p14:section>
        <p14:section name="03 船型与供应链" id="{2144c97c-045c-eb01-14d2-f600884e7081}">
          <p14:sldIdLst>
            <p14:sldId id="265"/>
            <p14:sldId id="266"/>
            <p14:sldId id="267"/>
            <p14:sldId id="268"/>
            <p14:sldId id="269"/>
          </p14:sldIdLst>
        </p14:section>
        <p14:section name="04 商业模式与竞争" id="{40e707d8-a021-b86a-5c8f-1c130f8fa7cd}">
          <p14:sldIdLst>
            <p14:sldId id="270"/>
            <p14:sldId id="271"/>
            <p14:sldId id="272"/>
          </p14:sldIdLst>
        </p14:section>
        <p14:section name="05 财务与估值" id="{63290514-7b96-5f33-d9f8-6edc6f1e6f1d}">
          <p14:sldIdLst>
            <p14:sldId id="273"/>
            <p14:sldId id="274"/>
            <p14:sldId id="275"/>
            <p14:sldId id="276"/>
            <p14:sldId id="277"/>
          </p14:sldIdLst>
        </p14:section>
        <p14:section name="06 偿债与风险" id="{785b7803-8981-7cb6-854a-3903749c6f9c}">
          <p14:sldIdLst>
            <p14:sldId id="278"/>
            <p14:sldId id="279"/>
            <p14:sldId id="280"/>
          </p14:sldIdLst>
        </p14:section>
        <p14:section name="07 治理与交易结构" id="{5f0e124d-edc3-ad17-fce3-eba48dcd9242}">
          <p14:sldIdLst>
            <p14:sldId id="281"/>
            <p14:sldId id="282"/>
            <p14:sldId id="283"/>
          </p14:sldIdLst>
        </p14:section>
        <p14:section name="附录" id="{ebb8f822-c394-f825-070f-a8903c07cd19}">
          <p14:sldIdLst>
            <p14:sldId id="284"/>
          </p14:sldIdLst>
        </p14:section>
        <p14:section name="结束" id="{05a27ea0-2b1b-66a6-d471-a81d835cd111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资金来源（亿元人民币）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资金来源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2A44"/>
              </a:solidFill>
              <a:effectLst/>
            </c:spPr>
          </c:dPt>
          <c:dPt>
            <c:idx val="1"/>
            <c:bubble3D val="0"/>
            <c:spPr>
              <a:solidFill>
                <a:srgbClr val="E87B2F"/>
              </a:solidFill>
              <a:effectLst/>
            </c:spPr>
          </c:dPt>
          <c:dLbls>
            <c:dLbl>
              <c:idx val="0"/>
              <c:numFmt formatCode="0.0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债务（60% LTV）</c:v>
                </c:pt>
                <c:pt idx="1">
                  <c:v>股权（40%）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4.68</c:v>
                </c:pt>
                <c:pt idx="1">
                  <c:v>3.12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4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资金用途（亿元人民币）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造船款</c:v>
                </c:pt>
              </c:strCache>
            </c:strRef>
          </c:tx>
          <c:spPr>
            <a:solidFill>
              <a:srgbClr val="2E5FA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MPP（2 × 1,300 万美元）</c:v>
                  </c:pt>
                  <c:pt idx="1">
                    <c:v>Handymax（2 × 2,850 万美元）</c:v>
                  </c:pt>
                  <c:pt idx="2">
                    <c:v>Ultramax（1 × 3,350 万美元）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1.74</c:v>
                </c:pt>
                <c:pt idx="1">
                  <c:v>3.82</c:v>
                </c:pt>
                <c:pt idx="2">
                  <c:v>2.24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5CCD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期租运价相对水平（Handymax 45K = 1.00）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相对水平</c:v>
                </c:pt>
              </c:strCache>
            </c:strRef>
          </c:tx>
          <c:spPr>
            <a:solidFill>
              <a:srgbClr val="6E8FC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E8F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B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Handysize 38K</c:v>
                  </c:pt>
                  <c:pt idx="1">
                    <c:v>Handymax 45K（本项目）</c:v>
                  </c:pt>
                  <c:pt idx="2">
                    <c:v>Supramax 63K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</c:v>
                </c:pt>
                <c:pt idx="1">
                  <c:v>1</c:v>
                </c:pt>
                <c:pt idx="2">
                  <c:v>1.25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C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Ultramax 船价对比（万美元）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船价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B2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5 年船龄二手（参考）</c:v>
                  </c:pt>
                  <c:pt idx="1">
                    <c:v>本项目新造船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3800</c:v>
                </c:pt>
                <c:pt idx="1">
                  <c:v>3350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C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年净收益（万美元，预估）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年净收益</c:v>
                </c:pt>
              </c:strCache>
            </c:strRef>
          </c:tx>
          <c:spPr>
            <a:solidFill>
              <a:srgbClr val="6E8F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E8F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7B2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MPP × 2</c:v>
                  </c:pt>
                  <c:pt idx="1">
                    <c:v>Handymax × 2</c:v>
                  </c:pt>
                  <c:pt idx="2">
                    <c:v>Ultramax × 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288</c:v>
                </c:pt>
                <c:pt idx="1">
                  <c:v>720</c:v>
                </c:pt>
                <c:pt idx="2">
                  <c:v>540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C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各阶段预估股权 IRR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股权 IRR</c:v>
                </c:pt>
              </c:strCache>
            </c:strRef>
          </c:tx>
          <c:spPr>
            <a:solidFill>
              <a:srgbClr val="6E8FC4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E8F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5F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3A6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7B2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MPP（下限）</c:v>
                  </c:pt>
                  <c:pt idx="1">
                    <c:v>MPP（上限）</c:v>
                  </c:pt>
                  <c:pt idx="2">
                    <c:v>Ultramax 散货</c:v>
                  </c:pt>
                  <c:pt idx="3">
                    <c:v>小型油轮</c:v>
                  </c:pt>
                  <c:pt idx="4">
                    <c:v>浮式数据中心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0.103</c:v>
                </c:pt>
                <c:pt idx="1">
                  <c:v>0.166</c:v>
                </c:pt>
                <c:pt idx="2">
                  <c:v>0.2203</c:v>
                </c:pt>
                <c:pt idx="3">
                  <c:v>0.25</c:v>
                </c:pt>
                <c:pt idx="4">
                  <c:v>0.29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C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净收益率（年净收益 ÷ 造价）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净收益率</c:v>
                </c:pt>
              </c:strCache>
            </c:strRef>
          </c:tx>
          <c:spPr>
            <a:solidFill>
              <a:srgbClr val="6E8FC4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E8F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7B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MPP</c:v>
                  </c:pt>
                  <c:pt idx="1">
                    <c:v>Handymax</c:v>
                  </c:pt>
                  <c:pt idx="2">
                    <c:v>Ultramax</c:v>
                  </c:pt>
                  <c:pt idx="3">
                    <c:v>整体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0.1108</c:v>
                </c:pt>
                <c:pt idx="1">
                  <c:v>0.1263</c:v>
                </c:pt>
                <c:pt idx="2">
                  <c:v>0.1612</c:v>
                </c:pt>
                <c:pt idx="3">
                  <c:v>0.133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C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股权现金流（万美元）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当年股权现金流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投入</c:v>
                  </c:pt>
                  <c:pt idx="1">
                    <c:v>Y1</c:v>
                  </c:pt>
                  <c:pt idx="2">
                    <c:v>Y2</c:v>
                  </c:pt>
                  <c:pt idx="3">
                    <c:v>Y3</c:v>
                  </c:pt>
                  <c:pt idx="4">
                    <c:v>Y4</c:v>
                  </c:pt>
                  <c:pt idx="5">
                    <c:v>Y5</c:v>
                  </c:pt>
                  <c:pt idx="6">
                    <c:v>Y6</c:v>
                  </c:pt>
                  <c:pt idx="7">
                    <c:v>Y7</c:v>
                  </c:pt>
                  <c:pt idx="8">
                    <c:v>Y8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-4660</c:v>
                </c:pt>
                <c:pt idx="1">
                  <c:v>598.3</c:v>
                </c:pt>
                <c:pt idx="2">
                  <c:v>598.3</c:v>
                </c:pt>
                <c:pt idx="3">
                  <c:v>598.3</c:v>
                </c:pt>
                <c:pt idx="4">
                  <c:v>598.3</c:v>
                </c:pt>
                <c:pt idx="5">
                  <c:v>598.3</c:v>
                </c:pt>
                <c:pt idx="6">
                  <c:v>598.3</c:v>
                </c:pt>
                <c:pt idx="7">
                  <c:v>3556.2</c:v>
                </c:pt>
                <c:pt idx="8">
                  <c:v>3588.7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累计现金流</c:v>
                </c:pt>
              </c:strCache>
            </c:strRef>
          </c:tx>
          <c:spPr>
            <a:solidFill>
              <a:srgbClr val="E87B2F"/>
            </a:solidFill>
            <a:ln w="31750" cap="flat">
              <a:solidFill>
                <a:srgbClr val="E87B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87B2F"/>
              </a:solidFill>
              <a:ln w="9525" cap="flat">
                <a:solidFill>
                  <a:srgbClr val="E87B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投入</c:v>
                  </c:pt>
                  <c:pt idx="1">
                    <c:v>Y1</c:v>
                  </c:pt>
                  <c:pt idx="2">
                    <c:v>Y2</c:v>
                  </c:pt>
                  <c:pt idx="3">
                    <c:v>Y3</c:v>
                  </c:pt>
                  <c:pt idx="4">
                    <c:v>Y4</c:v>
                  </c:pt>
                  <c:pt idx="5">
                    <c:v>Y5</c:v>
                  </c:pt>
                  <c:pt idx="6">
                    <c:v>Y6</c:v>
                  </c:pt>
                  <c:pt idx="7">
                    <c:v>Y7</c:v>
                  </c:pt>
                  <c:pt idx="8">
                    <c:v>Y8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-4660</c:v>
                </c:pt>
                <c:pt idx="1">
                  <c:v>-4061.7</c:v>
                </c:pt>
                <c:pt idx="2">
                  <c:v>-3463.4</c:v>
                </c:pt>
                <c:pt idx="3">
                  <c:v>-2865.1</c:v>
                </c:pt>
                <c:pt idx="4">
                  <c:v>-2266.8</c:v>
                </c:pt>
                <c:pt idx="5">
                  <c:v>-1668.5</c:v>
                </c:pt>
                <c:pt idx="6">
                  <c:v>-1070.2</c:v>
                </c:pt>
                <c:pt idx="7">
                  <c:v>2486</c:v>
                </c:pt>
                <c:pt idx="8">
                  <c:v>6074.7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C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A4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总回收构成（%）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回收构成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2A44"/>
              </a:solidFill>
              <a:effectLst/>
            </c:spPr>
          </c:dPt>
          <c:dPt>
            <c:idx val="1"/>
            <c:bubble3D val="0"/>
            <c:spPr>
              <a:solidFill>
                <a:srgbClr val="E87B2F"/>
              </a:solidFill>
              <a:effectLst/>
            </c:spPr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经营现金流</c:v>
                </c:pt>
                <c:pt idx="1">
                  <c:v>残值回购净额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42.2</c:v>
                </c:pt>
                <c:pt idx="1">
                  <c:v>57.8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3A4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三情景 IRR（预估）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股权 IRR</c:v>
                </c:pt>
              </c:strCache>
            </c:strRef>
          </c:tx>
          <c:spPr>
            <a:solidFill>
              <a:srgbClr val="E87B2F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Downside</c:v>
                  </c:pt>
                  <c:pt idx="1">
                    <c:v>Base</c:v>
                  </c:pt>
                  <c:pt idx="2">
                    <c:v>Upside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0.1307</c:v>
                </c:pt>
                <c:pt idx="1">
                  <c:v>0.1552</c:v>
                </c:pt>
                <c:pt idx="2">
                  <c:v>0.1946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全款 IRR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Downside</c:v>
                  </c:pt>
                  <c:pt idx="1">
                    <c:v>Base</c:v>
                  </c:pt>
                  <c:pt idx="2">
                    <c:v>Upside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0.0948</c:v>
                </c:pt>
                <c:pt idx="1">
                  <c:v>0.1066</c:v>
                </c:pt>
                <c:pt idx="2">
                  <c:v>0.1254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C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A4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投资人（92%）每年分配（万美元，预估）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投资人分配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7B2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7B2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550</c:v>
                </c:pt>
                <c:pt idx="1">
                  <c:v>550</c:v>
                </c:pt>
                <c:pt idx="2">
                  <c:v>550</c:v>
                </c:pt>
                <c:pt idx="3">
                  <c:v>550</c:v>
                </c:pt>
                <c:pt idx="4">
                  <c:v>550</c:v>
                </c:pt>
                <c:pt idx="5">
                  <c:v>550</c:v>
                </c:pt>
                <c:pt idx="6">
                  <c:v>3272</c:v>
                </c:pt>
                <c:pt idx="7">
                  <c:v>3302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C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DSCR 随 45K 日租金变化（美元/日）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DSCR</c:v>
                </c:pt>
              </c:strCache>
            </c:strRef>
          </c:tx>
          <c:spPr>
            <a:solidFill>
              <a:srgbClr val="1F2A44"/>
            </a:solidFill>
            <a:ln w="31750" cap="flat">
              <a:solidFill>
                <a:srgbClr val="1F2A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2A44"/>
              </a:solidFill>
              <a:ln w="9525" cap="flat">
                <a:solidFill>
                  <a:srgbClr val="1F2A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10,000</c:v>
                  </c:pt>
                  <c:pt idx="1">
                    <c:v>9,000</c:v>
                  </c:pt>
                  <c:pt idx="2">
                    <c:v>8,000</c:v>
                  </c:pt>
                  <c:pt idx="3">
                    <c:v>7,500</c:v>
                  </c:pt>
                  <c:pt idx="4">
                    <c:v>7,000</c:v>
                  </c:pt>
                  <c:pt idx="5">
                    <c:v>6,500</c:v>
                  </c:pt>
                  <c:pt idx="6">
                    <c:v>6,000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</c:v>
                </c:pt>
                <c:pt idx="1">
                  <c:v>1.55</c:v>
                </c:pt>
                <c:pt idx="2">
                  <c:v>1.48</c:v>
                </c:pt>
                <c:pt idx="3">
                  <c:v>1.44</c:v>
                </c:pt>
                <c:pt idx="4">
                  <c:v>1.4</c:v>
                </c:pt>
                <c:pt idx="5">
                  <c:v>1.36</c:v>
                </c:pt>
                <c:pt idx="6">
                  <c:v>1.33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Covenant 门槛 1.2</c:v>
                </c:pt>
              </c:strCache>
            </c:strRef>
          </c:tx>
          <c:spPr>
            <a:solidFill>
              <a:srgbClr val="E87B2F"/>
            </a:solidFill>
            <a:ln w="31750" cap="flat">
              <a:solidFill>
                <a:srgbClr val="E87B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87B2F"/>
              </a:solidFill>
              <a:ln w="9525" cap="flat">
                <a:solidFill>
                  <a:srgbClr val="E87B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10,000</c:v>
                  </c:pt>
                  <c:pt idx="1">
                    <c:v>9,000</c:v>
                  </c:pt>
                  <c:pt idx="2">
                    <c:v>8,000</c:v>
                  </c:pt>
                  <c:pt idx="3">
                    <c:v>7,500</c:v>
                  </c:pt>
                  <c:pt idx="4">
                    <c:v>7,000</c:v>
                  </c:pt>
                  <c:pt idx="5">
                    <c:v>6,500</c:v>
                  </c:pt>
                  <c:pt idx="6">
                    <c:v>6,000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1.2</c:v>
                </c:pt>
                <c:pt idx="1">
                  <c:v>1.2</c:v>
                </c:pt>
                <c:pt idx="2">
                  <c:v>1.2</c:v>
                </c:pt>
                <c:pt idx="3">
                  <c:v>1.2</c:v>
                </c:pt>
                <c:pt idx="4">
                  <c:v>1.2</c:v>
                </c:pt>
                <c:pt idx="5">
                  <c:v>1.2</c:v>
                </c:pt>
                <c:pt idx="6">
                  <c:v>1.2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C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"/>
          <c:min val="1"/>
        </c:scaling>
        <c:delete val="0"/>
        <c:axPos val="l"/>
        <c:majorGridlines>
          <c:spPr>
            <a:ln w="9525" cap="flat">
              <a:solidFill>
                <a:srgbClr val="E1E5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A4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净负债与 LTV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净负债（万美元）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交付</c:v>
                  </c:pt>
                  <c:pt idx="1">
                    <c:v>Y1</c:v>
                  </c:pt>
                  <c:pt idx="2">
                    <c:v>Y3</c:v>
                  </c:pt>
                  <c:pt idx="3">
                    <c:v>Y5</c:v>
                  </c:pt>
                  <c:pt idx="4">
                    <c:v>Y7</c:v>
                  </c:pt>
                  <c:pt idx="5">
                    <c:v>Y8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6990</c:v>
                </c:pt>
                <c:pt idx="1">
                  <c:v>6460</c:v>
                </c:pt>
                <c:pt idx="2">
                  <c:v>5302</c:v>
                </c:pt>
                <c:pt idx="3">
                  <c:v>4001</c:v>
                </c:pt>
                <c:pt idx="4">
                  <c:v>1297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LTV</c:v>
                </c:pt>
              </c:strCache>
            </c:strRef>
          </c:tx>
          <c:spPr>
            <a:solidFill>
              <a:srgbClr val="E87B2F"/>
            </a:solidFill>
            <a:ln w="31750" cap="flat">
              <a:solidFill>
                <a:srgbClr val="E87B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87B2F"/>
              </a:solidFill>
              <a:ln w="9525" cap="flat">
                <a:solidFill>
                  <a:srgbClr val="E87B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交付</c:v>
                  </c:pt>
                  <c:pt idx="1">
                    <c:v>Y1</c:v>
                  </c:pt>
                  <c:pt idx="2">
                    <c:v>Y3</c:v>
                  </c:pt>
                  <c:pt idx="3">
                    <c:v>Y5</c:v>
                  </c:pt>
                  <c:pt idx="4">
                    <c:v>Y7</c:v>
                  </c:pt>
                  <c:pt idx="5">
                    <c:v>Y8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</c:v>
                </c:pt>
                <c:pt idx="1">
                  <c:v>0.576</c:v>
                </c:pt>
                <c:pt idx="2">
                  <c:v>0.514</c:v>
                </c:pt>
                <c:pt idx="3">
                  <c:v>0.424</c:v>
                </c:pt>
                <c:pt idx="4">
                  <c:v>0.152</c:v>
                </c:pt>
                <c:pt idx="5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C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"/>
          <c:min val="0"/>
        </c:scaling>
        <c:delete val="0"/>
        <c:axPos val="l"/>
        <c:majorGridlines>
          <c:spPr>
            <a:ln w="9525" cap="flat">
              <a:solidFill>
                <a:srgbClr val="E1E5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0.8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C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458"/>
                </a:solidFill>
                <a:latin typeface="+mn-lt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A4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股权结构（拟议）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股权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2A44"/>
              </a:solidFill>
              <a:effectLst/>
            </c:spPr>
          </c:dPt>
          <c:dPt>
            <c:idx val="1"/>
            <c:bubble3D val="0"/>
            <c:spPr>
              <a:solidFill>
                <a:srgbClr val="E87B2F"/>
              </a:solidFill>
              <a:effectLst/>
            </c:spPr>
          </c:dPt>
          <c:dPt>
            <c:idx val="2"/>
            <c:bubble3D val="0"/>
            <c:spPr>
              <a:solidFill>
                <a:srgbClr val="F3A66B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投资人 92%</c:v>
                </c:pt>
                <c:pt idx="1">
                  <c:v>徐浩铮 4%</c:v>
                </c:pt>
                <c:pt idx="2">
                  <c:v>彭飞扬 4%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92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4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五船船队融资商业计划书  ｜  机密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7.xm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image" Target="../media/image-22-1.png"/><Relationship Id="rId3" Type="http://schemas.openxmlformats.org/officeDocument/2006/relationships/image" Target="../media/image-22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image" Target="../media/image-23-1.png"/><Relationship Id="rId3" Type="http://schemas.openxmlformats.org/officeDocument/2006/relationships/image" Target="../media/image-23-2.png"/><Relationship Id="rId4" Type="http://schemas.openxmlformats.org/officeDocument/2006/relationships/image" Target="../media/image-23-3.png"/><Relationship Id="rId5" Type="http://schemas.openxmlformats.org/officeDocument/2006/relationships/image" Target="../media/image-23-4.png"/><Relationship Id="rId6" Type="http://schemas.openxmlformats.org/officeDocument/2006/relationships/image" Target="../media/image-23-5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COMMERCIAL PLAN · MARITIME FINANCING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4000" b="1" dirty="0">
                <a:solidFill>
                  <a:schemeClr val="bg1"/>
                </a:solidFill>
              </a:rPr>
              <a:t>五船船队融资商业计划书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C9D3E6"/>
                </a:solidFill>
              </a:rPr>
              <a:t>2 × 14,000 DWT 双甲板 MPP  ｜  2 × 45,000 DWT Handymax  ｜  1 × 63,500 DWT Ultramax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accent1"/>
                </a:solidFill>
              </a:rPr>
              <a:t>新加坡 SPV · 60% LTV · 2028 年优先交付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9D3E6"/>
                </a:solidFill>
              </a:rPr>
              <a:t>徐浩铮 · 彭飞扬  ｜  2026 年 9 月  ｜  机密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目录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71 页原稿合并为 30 页，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按“项目—市场—资产—回报—风控—交易”顺序展开。</a:t>
            </a:r>
            <a:endParaRPr lang="en-US" sz="1100" dirty="0"/>
          </a:p>
        </p:txBody>
      </p:sp>
      <p:pic>
        <p:nvPicPr>
          <p:cNvPr id="6" name="Image 0" descr="img/m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846320"/>
            <a:ext cx="3474720" cy="9875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0" y="685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6858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项目概览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执行摘要 · 融资诉求 · SPV 与船队 · 团队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85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3–6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1325880"/>
            <a:ext cx="7040880" cy="0"/>
          </a:xfrm>
          <a:prstGeom prst="line">
            <a:avLst/>
          </a:prstGeom>
          <a:noFill/>
          <a:ln w="9525">
            <a:solidFill>
              <a:srgbClr val="E1E5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13898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13898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市场分析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MPP 与 45K 需求 · Ultramax 供需 · 运价基准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607040" y="13898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7–9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0" y="2029968"/>
            <a:ext cx="7040880" cy="0"/>
          </a:xfrm>
          <a:prstGeom prst="line">
            <a:avLst/>
          </a:prstGeom>
          <a:noFill/>
          <a:ln w="9525">
            <a:solidFill>
              <a:srgbClr val="E1E5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0" y="209397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209397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船型与供应链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三种船型 · 关键参数 · 船厂设计 · 租家 · 交付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607040" y="209397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10–14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0" y="2734056"/>
            <a:ext cx="7040880" cy="0"/>
          </a:xfrm>
          <a:prstGeom prst="line">
            <a:avLst/>
          </a:prstGeom>
          <a:noFill/>
          <a:ln w="9525">
            <a:solidFill>
              <a:srgbClr val="E1E5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0" y="279806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04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279806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商业模式与竞争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收入与退出 · 扩张路径 · 资产比较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607040" y="279806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15–17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0" y="3438144"/>
            <a:ext cx="7040880" cy="0"/>
          </a:xfrm>
          <a:prstGeom prst="line">
            <a:avLst/>
          </a:prstGeom>
          <a:noFill/>
          <a:ln w="9525">
            <a:solidFill>
              <a:srgbClr val="E1E5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0" y="3502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05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5394960" y="350215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财务与估值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测算口径 · 现金流 · 情景 · 估值 · 分配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607040" y="35021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18–22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0" y="4142232"/>
            <a:ext cx="7040880" cy="0"/>
          </a:xfrm>
          <a:prstGeom prst="line">
            <a:avLst/>
          </a:prstGeom>
          <a:noFill/>
          <a:ln w="9525">
            <a:solidFill>
              <a:srgbClr val="E1E5E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0" y="4206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06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5394960" y="42062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偿债与风险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DSCR · LTV 与残值覆盖 · 风险矩阵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607040" y="42062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23–25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0" y="4846320"/>
            <a:ext cx="7040880" cy="0"/>
          </a:xfrm>
          <a:prstGeom prst="line">
            <a:avLst/>
          </a:prstGeom>
          <a:noFill/>
          <a:ln w="9525">
            <a:solidFill>
              <a:srgbClr val="E1E5E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72000" y="49103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07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5394960" y="49103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治理与交易结构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股权治理 · 四层约束 · 尽调准备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0607040" y="491032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26–28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0" y="5550408"/>
            <a:ext cx="7040880" cy="0"/>
          </a:xfrm>
          <a:prstGeom prst="line">
            <a:avLst/>
          </a:prstGeom>
          <a:noFill/>
          <a:ln w="9525">
            <a:solidFill>
              <a:srgbClr val="E1E5E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72000" y="561441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附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5394960" y="561441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附录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关键参数与回报汇总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607040" y="56144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29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  项目概览 · 执行摘要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五艘船、预估股权 IRR 15.52%，主要回报由合同锁定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2154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2144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chemeClr val="bg1"/>
                </a:solidFill>
              </a:rPr>
              <a:t>15.52%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25980"/>
            <a:ext cx="2144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7DDE8"/>
                </a:solidFill>
              </a:rPr>
              <a:t>股权 IRR（预估）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79394" y="1417320"/>
            <a:ext cx="2602154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07994" y="1581912"/>
            <a:ext cx="2144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</a:rPr>
              <a:t>2.30x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607994" y="2125980"/>
            <a:ext cx="2144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投入倍数 MOIC（预估）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0148" y="1417320"/>
            <a:ext cx="2602154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1581912"/>
            <a:ext cx="2144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</a:rPr>
              <a:t>1.63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38748" y="2125980"/>
            <a:ext cx="2144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稳定期 DSCR（预估）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40901" y="1417320"/>
            <a:ext cx="2602154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69501" y="1581912"/>
            <a:ext cx="2144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</a:rPr>
              <a:t>7.81 亿元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269501" y="2125980"/>
            <a:ext cx="2144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五船总造价（人民币，预估）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948940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8872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船队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286000" y="2788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2 艘 14,000 DWT 双甲板 MPP（120t 吊）、2 艘 45,000 DWT Handymax、1 艘 63,500 DWT Ultramax，2028 年优先交付，交付即起租。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3602736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3717036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188720" y="355701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三项预估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2286000" y="3557016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造价约 7.81 亿元；日租金 MPP 光租 4,000、Handymax 期租 10,000、Ultramax 期租 15,000 美元；残值回购 Handymax 第 7 年 2,100 万/艘，MPP 第 8 年 895 万/艘，Ultramax 第 8 年 2,345 万美元。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48640" y="4370832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4485132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188720" y="43251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结构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2286000" y="43251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新加坡 SPV，60% LTV；徐浩铮 4%、彭飞扬 4%、投资人 92%。造船款用人民币支付，船舶抵押后可向西方银行借美元。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48640" y="51389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5253228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188720" y="50932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回报构成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2286000" y="509320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57.8% 来自残值回购，42.2% 来自经营现金流；第 7 年累计现金流转正。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chemeClr val="accent4"/>
                </a:solidFill>
              </a:rPr>
              <a:t>以上均为预估数字，不构成收益承诺。项目的确定性来自合同安排，而不是对运价走势的判断。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8138160" y="2788920"/>
            <a:ext cx="3502152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36676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船队构成</a:t>
            </a:r>
            <a:endParaRPr lang="en-US" sz="1300" dirty="0"/>
          </a:p>
        </p:txBody>
      </p:sp>
      <p:pic>
        <p:nvPicPr>
          <p:cNvPr id="35" name="Image 4" descr="img/mp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291840"/>
            <a:ext cx="3136392" cy="886968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8366760" y="4206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MPP × 2 · 14,000 DWT · 120t 组合吊</a:t>
            </a:r>
            <a:endParaRPr lang="en-US" sz="1000" dirty="0"/>
          </a:p>
        </p:txBody>
      </p:sp>
      <p:pic>
        <p:nvPicPr>
          <p:cNvPr id="37" name="Image 5" descr="img/bul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526280"/>
            <a:ext cx="3136392" cy="88696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366760" y="5413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Handymax × 2 · 45,000 DWT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Ultramax × 1 · 63,500 DWT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  项目概览 · 融资诉求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融资约 7.81 亿元：债务 60%、股权 40%，按建造进度分三期付款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338328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114800" y="1371600"/>
          <a:ext cx="41148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8458200" y="1417320"/>
            <a:ext cx="3182112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8680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约 11,650 万美元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融资总额（美元口径）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24688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汇率按 1 美元 ≈ 6.7 元人民币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债务成本按 6%、10 年等额本息测算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造船款以人民币付给信海船舶；船舶抵押后可向西方银行借美元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2"/>
                </a:solidFill>
              </a:rPr>
              <a:t>配套费用由股东另行自筹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付款节奏与监管账户释放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864608"/>
            <a:ext cx="2164019" cy="658368"/>
          </a:xfrm>
          <a:prstGeom prst="rect">
            <a:avLst/>
          </a:prstGeom>
          <a:solidFill>
            <a:srgbClr val="F3A66B"/>
          </a:solidFill>
          <a:ln w="12700">
            <a:solidFill>
              <a:srgbClr val="F3A66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4864608"/>
            <a:ext cx="18896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2026 · 签约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20%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  约 1.56 亿元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767523" y="4864608"/>
            <a:ext cx="4382902" cy="658368"/>
          </a:xfrm>
          <a:prstGeom prst="rect">
            <a:avLst/>
          </a:prstGeom>
          <a:solidFill>
            <a:srgbClr val="E87B2F"/>
          </a:solidFill>
          <a:ln w="12700">
            <a:solidFill>
              <a:srgbClr val="E87B2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904683" y="4864608"/>
            <a:ext cx="41085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2027 · 铺龙骨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40%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  约 3.12 亿元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205289" y="4864608"/>
            <a:ext cx="4437766" cy="65836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42449" y="4864608"/>
            <a:ext cx="41634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2028 · 交付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40%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  约 3.12 亿元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235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资金统一进入监管账户，凭发票、验收单和监管方签认分期释放；股权与债务按 40:60 同步到位。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  项目概览 · 公司与船队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新加坡 SPV 持有五艘船：造船付人民币，租金收美元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国内投资人 · 92%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人民币出资，ODI 出境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463040"/>
            <a:ext cx="256032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63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经理人 · 8%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徐浩铮 4% · 彭飞扬 4%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2240280"/>
            <a:ext cx="0" cy="228600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2240280"/>
            <a:ext cx="0" cy="228600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468880"/>
            <a:ext cx="2926080" cy="0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468880"/>
            <a:ext cx="0" cy="228600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737360" y="2724912"/>
            <a:ext cx="3108960" cy="82296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37360" y="272491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新加坡 SPV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9D3E6"/>
                </a:solidFill>
              </a:rPr>
              <a:t>持有 5 艘船 · 国际船旗 · 美元计价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3547872"/>
            <a:ext cx="0" cy="246888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9888" y="3794760"/>
            <a:ext cx="3803904" cy="0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9888" y="3794760"/>
            <a:ext cx="0" cy="228600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91840" y="3794760"/>
            <a:ext cx="0" cy="228600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93792" y="3794760"/>
            <a:ext cx="0" cy="228600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405079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5079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信海船舶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人民币支付船款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50592" y="405079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50592" y="405079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西方银行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船舶抵押 · 美元贷款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405079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43400" y="405079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租家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信风海运等 · 美元租金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20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航线以中日韩、东南亚和马六甲为主。资产、船旗、合同和现金流都在境外，国内投资人可以逐层核查。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63040"/>
          <a:ext cx="523951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48640"/>
                <a:gridCol w="1463040"/>
                <a:gridCol w="13075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船型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数量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单船造价（人民币）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租约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14,000 DWT MPP（120t）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约 8,710 万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光租 8 年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45,000 DWT Handymax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约 1.91 亿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期租 7 年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63,500 DWT Ultramax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约 2.24 亿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期租 8 年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合计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约 7.81 亿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2028 交付即运营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8"/>
                    </a:solidFill>
                  </a:tcPr>
                </a:tc>
              </a:tr>
            </a:tbl>
          </a:graphicData>
        </a:graphic>
      </p:graphicFrame>
      <p:pic>
        <p:nvPicPr>
          <p:cNvPr id="27" name="illus-mpp" descr="img/mp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3794760"/>
            <a:ext cx="5239512" cy="1920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  项目概览 · 团队与激励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两位经理人各持 4% 受限股权，按交付进度解锁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31536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73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徐浩铮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经理人 · 商务与融资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受限股权 4%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1645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4%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6208776" y="1417320"/>
            <a:ext cx="5431536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83096" y="169164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18973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34656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彭飞扬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7534656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经理人 · 技术与运营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534656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受限股权 4%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0140696" y="1645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4%</a:t>
            </a:r>
            <a:endParaRPr lang="en-US" sz="36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股权解锁节奏（每人 4% 按以下比例分三次解锁）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3401568"/>
            <a:ext cx="2173163" cy="566928"/>
          </a:xfrm>
          <a:prstGeom prst="rect">
            <a:avLst/>
          </a:prstGeom>
          <a:solidFill>
            <a:srgbClr val="F3A66B"/>
          </a:solidFill>
          <a:ln w="12700">
            <a:solidFill>
              <a:srgbClr val="F3A66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85800" y="3401568"/>
            <a:ext cx="1898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签约  20%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2790383" y="3401568"/>
            <a:ext cx="3282605" cy="566928"/>
          </a:xfrm>
          <a:prstGeom prst="rect">
            <a:avLst/>
          </a:prstGeom>
          <a:solidFill>
            <a:srgbClr val="E87B2F"/>
          </a:solidFill>
          <a:ln w="12700">
            <a:solidFill>
              <a:srgbClr val="E87B2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927543" y="3401568"/>
            <a:ext cx="30082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下水  30%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141568" y="3401568"/>
            <a:ext cx="5501488" cy="56692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278728" y="3401568"/>
            <a:ext cx="522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交付  50%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40416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chemeClr val="accent4"/>
                </a:solidFill>
              </a:rPr>
              <a:t>一半股权要等船交付后才解锁。船交不出来，经理人拿不到大头。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4480560"/>
            <a:ext cx="5431536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2960" y="47548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89204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554480" y="46177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经理人负责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担任管理人 / 执行事务方，负责日常运营与商业决策：租约执行、船厂和租家协调、船舶运营。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208776" y="4480560"/>
            <a:ext cx="5431536" cy="1371600"/>
          </a:xfrm>
          <a:prstGeom prst="roundRect">
            <a:avLst>
              <a:gd name="adj" fmla="val 5333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483096" y="4754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89204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214616" y="46177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投资人保留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重大事项需股东会特别决议，投资人有一票否决权。8% 的少数股权不影响执行效率，控制权仍在出资人手里。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  市场分析 · 需求与供给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MPP 有更新缺口；45K 散货新增运力少，但二手市场也因此偏冷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31536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453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417320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MPP 需求驱动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431536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2951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2409444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10312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船队老化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2331720" y="2103120"/>
            <a:ext cx="3465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多用途船整体船龄偏高，更新需求持续存在。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044952"/>
            <a:ext cx="5431536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31520" y="323697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351276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3044952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出口增长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2331720" y="3044952"/>
            <a:ext cx="3465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中国港口出口上行，件杂货和设备运输需求随之增加。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986784"/>
            <a:ext cx="5431536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31520" y="41788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429310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5880" y="3986784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储能柜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2331720" y="3986784"/>
            <a:ext cx="3465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中国集装箱式储能（BESS）年复合增速约 24.6%，甲板装运储能柜是本船型独有的货源。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48640" y="4928616"/>
            <a:ext cx="5431536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523494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25880" y="4928616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新规窗口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2331720" y="4928616"/>
            <a:ext cx="3465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IMDG 42-24 于 2026-01-01 生效，要求储能柜按 SW1/SW2 甲板积载，本船型满足要求。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208776" y="1417320"/>
            <a:ext cx="5431536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1545336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848856" y="1417320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45,000 吨散货：前景与代价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6208776" y="2103120"/>
            <a:ext cx="5431536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391656" y="22951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2409444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986016" y="210312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港口适配</a:t>
            </a:r>
            <a:endParaRPr lang="en-US" sz="1250" dirty="0"/>
          </a:p>
        </p:txBody>
      </p:sp>
      <p:sp>
        <p:nvSpPr>
          <p:cNvPr id="34" name="Text 25"/>
          <p:cNvSpPr txBox="1"/>
          <p:nvPr/>
        </p:nvSpPr>
        <p:spPr>
          <a:xfrm>
            <a:off x="7991856" y="2103120"/>
            <a:ext cx="3465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灵便型可进中小港，适合中日韩、东南亚的谷物、钢材、水泥、化肥运输。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6208776" y="3044952"/>
            <a:ext cx="5431536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6391656" y="323697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956" y="3351276"/>
            <a:ext cx="228600" cy="2286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986016" y="3044952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新增运力少</a:t>
            </a:r>
            <a:endParaRPr lang="en-US" sz="1250" dirty="0"/>
          </a:p>
        </p:txBody>
      </p:sp>
      <p:sp>
        <p:nvSpPr>
          <p:cNvPr id="39" name="Text 29"/>
          <p:cNvSpPr txBox="1"/>
          <p:nvPr/>
        </p:nvSpPr>
        <p:spPr>
          <a:xfrm>
            <a:off x="7991856" y="3044952"/>
            <a:ext cx="3465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新船订单集中在大船型，45K 级订单少、船队偏老，短期投放有限。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6208776" y="3986784"/>
            <a:ext cx="5431536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6391656" y="41788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956" y="4293108"/>
            <a:ext cx="228600" cy="2286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986016" y="3986784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运价支撑</a:t>
            </a:r>
            <a:endParaRPr lang="en-US" sz="1250" dirty="0"/>
          </a:p>
        </p:txBody>
      </p:sp>
      <p:sp>
        <p:nvSpPr>
          <p:cNvPr id="44" name="Text 33"/>
          <p:cNvSpPr txBox="1"/>
          <p:nvPr/>
        </p:nvSpPr>
        <p:spPr>
          <a:xfrm>
            <a:off x="7991856" y="3986784"/>
            <a:ext cx="3465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未来几年运力增长有限，对期租运价形成支撑。</a:t>
            </a:r>
            <a:endParaRPr lang="en-US" sz="1100" dirty="0"/>
          </a:p>
        </p:txBody>
      </p:sp>
      <p:sp>
        <p:nvSpPr>
          <p:cNvPr id="45" name="Shape 34"/>
          <p:cNvSpPr/>
          <p:nvPr/>
        </p:nvSpPr>
        <p:spPr>
          <a:xfrm>
            <a:off x="6208776" y="4928616"/>
            <a:ext cx="5431536" cy="841248"/>
          </a:xfrm>
          <a:prstGeom prst="roundRect">
            <a:avLst>
              <a:gd name="adj" fmla="val 869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6391656" y="5120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5234940"/>
            <a:ext cx="228600" cy="228600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6986016" y="4928616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代价</a:t>
            </a:r>
            <a:endParaRPr lang="en-US" sz="1250" dirty="0"/>
          </a:p>
        </p:txBody>
      </p:sp>
      <p:sp>
        <p:nvSpPr>
          <p:cNvPr id="49" name="Text 37"/>
          <p:cNvSpPr txBox="1"/>
          <p:nvPr/>
        </p:nvSpPr>
        <p:spPr>
          <a:xfrm>
            <a:off x="7991856" y="4928616"/>
            <a:ext cx="3465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同样因为订单少，这一吨位的二手交易不活跃，残值变现要靠回购协议兜底。</a:t>
            </a:r>
            <a:endParaRPr lang="en-US" sz="1100" dirty="0"/>
          </a:p>
        </p:txBody>
      </p:sp>
      <p:sp>
        <p:nvSpPr>
          <p:cNvPr id="50" name="Text 38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4"/>
                </a:solidFill>
              </a:rPr>
              <a:t>来源：Baltic Exchange Guide V8.7；SDARI 14K MPV 资料；IMDG 42-24；MarketsandMarkets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  市场分析 · Ultramax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Ultramax：货种分散、需求稳，新船位已经排到 2029 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2154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</a:rPr>
              <a:t>22,443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97634"/>
            <a:ext cx="21449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S11TC 最新，美元/天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79394" y="1417320"/>
            <a:ext cx="2602154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07994" y="158191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</a:rPr>
              <a:t>1,776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607994" y="2097634"/>
            <a:ext cx="21449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BSI 指数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0148" y="1417320"/>
            <a:ext cx="2602154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158191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</a:rPr>
              <a:t>729 艘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38748" y="2097634"/>
            <a:ext cx="21449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中型散货船龄超 20 年（其中约 322 艘超 25 年）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40901" y="1417320"/>
            <a:ext cx="2602154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69501" y="1581912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chemeClr val="bg1"/>
                </a:solidFill>
              </a:rPr>
              <a:t>2029 年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269501" y="2097634"/>
            <a:ext cx="21449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7DDE8"/>
                </a:solidFill>
              </a:rPr>
              <a:t>Ultramax 新船位排期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697480"/>
            <a:ext cx="5431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需求侧：货种最分散，抗周期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108960"/>
            <a:ext cx="5431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250" b="1" dirty="0">
                <a:solidFill>
                  <a:schemeClr val="accent2"/>
                </a:solidFill>
              </a:rPr>
              <a:t>货种分散  </a:t>
            </a:r>
            <a:pPr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谷物、钢材、化肥、水泥、铝土矿和小宗矿石，不押注单一商品。</a:t>
            </a:r>
            <a:endParaRPr lang="en-US" sz="12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50" b="1" dirty="0">
                <a:solidFill>
                  <a:schemeClr val="accent2"/>
                </a:solidFill>
              </a:rPr>
              <a:t>航线匹配  </a:t>
            </a:r>
            <a:pPr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中日韩、东南亚、马六甲货源充足，超灵便型可进中型港。</a:t>
            </a:r>
            <a:endParaRPr lang="en-US" sz="12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50" b="1" dirty="0">
                <a:solidFill>
                  <a:schemeClr val="accent2"/>
                </a:solidFill>
              </a:rPr>
              <a:t>置换需求  </a:t>
            </a:r>
            <a:pPr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老旧船淘汰叠加环保合规，持续产生更新需求。</a:t>
            </a:r>
            <a:endParaRPr lang="en-US" sz="12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50" b="1" dirty="0">
                <a:solidFill>
                  <a:schemeClr val="accent2"/>
                </a:solidFill>
              </a:rPr>
              <a:t>多线支撑  </a:t>
            </a:r>
            <a:pPr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基建、粮食和新能源材料补库同时拉动需求。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08776" y="2697480"/>
            <a:ext cx="5431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供给侧：船台和主机两头紧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08776" y="3108960"/>
            <a:ext cx="5431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船台被占  </a:t>
            </a:r>
            <a:pPr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油轮、集装箱船、LNG、PCTC 等高价值船型占满船台。</a:t>
            </a:r>
            <a:endParaRPr lang="en-US" sz="12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船队老化  </a:t>
            </a:r>
            <a:pPr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老龄船退役压力上升，见上方数据。</a:t>
            </a:r>
            <a:endParaRPr lang="en-US" sz="12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设备紧张  </a:t>
            </a:r>
            <a:pPr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主机等关键设备交期拉长，新船交付进一步推迟。</a:t>
            </a:r>
            <a:endParaRPr lang="en-US" sz="12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价格倒挂  </a:t>
            </a:r>
            <a:pPr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5 年船龄二手参考价约 3,800 万美元，高于本项目 3,350 万美元新造价。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21208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</a:rPr>
              <a:t>短期风险 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2026–2027 年是新船交付高峰，运价可能阶段性承压；不影响长期供需偏紧的判断。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4"/>
                </a:solidFill>
              </a:rPr>
              <a:t>来源：S11TC Supramax Indices Dashboard（2026-09-23）；Baltic Exchange Guide V8.7；二手船参考价为预估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  市场分析 · 运价基准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收益假设以波罗的海指数为锚，随时可以对照核验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4864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371600"/>
          <a:ext cx="5330952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709160"/>
            <a:ext cx="2636444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4800600"/>
            <a:ext cx="22706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BSI 63K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S11TC：Supramax 期租均值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367964" y="4709160"/>
            <a:ext cx="2636444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550844" y="4800600"/>
            <a:ext cx="22706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BHSI 38K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HS7TC：Handysize 期租均值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187288" y="4709160"/>
            <a:ext cx="2636444" cy="1188720"/>
          </a:xfrm>
          <a:prstGeom prst="roundRect">
            <a:avLst>
              <a:gd name="adj" fmla="val 6154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70168" y="4800600"/>
            <a:ext cx="22706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</a:rPr>
              <a:t>保守取值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Handymax 期租净收益按 10,000 美元/日，远低于 S11TC 最新 22,443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006611" y="4709160"/>
            <a:ext cx="2636444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189491" y="4800600"/>
            <a:ext cx="22706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OPEX 核验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按 Baltic 附录四口径：ITF 船员、H&amp;M/P&amp;I、备件、坞修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4"/>
                </a:solidFill>
              </a:rPr>
              <a:t>来源：Baltic Exchange Guide to Market Benchmarks V8.7（2026 年 8 月）；S11TC Supramax Indices Dashboard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  船型与供应链 · 三种船型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MPP 做差异化、Handymax 稳现金流、Ultramax 拉高收益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5738" cy="443484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illus-mpp" descr="img/mp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1309" y="1554480"/>
            <a:ext cx="3200400" cy="9066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56032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14,000 DWT 双甲板 MPP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0779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重吊 + 储能柜，差异化货源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" y="329184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2918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设计院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329184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SDARI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" y="370332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7033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数量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370332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 艘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411480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1148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单船造价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411480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1,300 万美元（约 8,710 万元）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" y="452628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5262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租约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452628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光租 8 年 · 4,000 美元/日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77240" y="493776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937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残值回购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645920" y="493776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第 8 年 · 895 万美元/艘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77240" y="534924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3492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年净收益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645920" y="534924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288 万美元（2 艘）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322978" y="1417320"/>
            <a:ext cx="3545738" cy="443484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7" name="illus-handymax" descr="img/bul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24248" y="1554480"/>
            <a:ext cx="2743200" cy="77711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4551578" y="256032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45,000 DWT Handymax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4551578" y="290779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标准化散货船，现金流底座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551578" y="329184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551578" y="32918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设计院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5420258" y="329184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上海佳豪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551578" y="370332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551578" y="37033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数量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5420258" y="370332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 艘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551578" y="411480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551578" y="41148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单船造价</a:t>
            </a:r>
            <a:endParaRPr lang="en-US" sz="1050" dirty="0"/>
          </a:p>
        </p:txBody>
      </p:sp>
      <p:sp>
        <p:nvSpPr>
          <p:cNvPr id="38" name="Text 34"/>
          <p:cNvSpPr txBox="1"/>
          <p:nvPr/>
        </p:nvSpPr>
        <p:spPr>
          <a:xfrm>
            <a:off x="5420258" y="411480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2,850 万美元（约 1.91 亿元）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4551578" y="452628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551578" y="45262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租约</a:t>
            </a:r>
            <a:endParaRPr lang="en-US" sz="1050" dirty="0"/>
          </a:p>
        </p:txBody>
      </p:sp>
      <p:sp>
        <p:nvSpPr>
          <p:cNvPr id="41" name="Text 37"/>
          <p:cNvSpPr txBox="1"/>
          <p:nvPr/>
        </p:nvSpPr>
        <p:spPr>
          <a:xfrm>
            <a:off x="5420258" y="452628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期租 7 年 · 10,000 美元/日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4551578" y="493776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551578" y="4937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残值回购</a:t>
            </a:r>
            <a:endParaRPr lang="en-US" sz="1050" dirty="0"/>
          </a:p>
        </p:txBody>
      </p:sp>
      <p:sp>
        <p:nvSpPr>
          <p:cNvPr id="44" name="Text 40"/>
          <p:cNvSpPr txBox="1"/>
          <p:nvPr/>
        </p:nvSpPr>
        <p:spPr>
          <a:xfrm>
            <a:off x="5420258" y="493776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第 7 年 · 2,100 万美元/艘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4551578" y="534924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4551578" y="53492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年净收益</a:t>
            </a:r>
            <a:endParaRPr lang="en-US" sz="1050" dirty="0"/>
          </a:p>
        </p:txBody>
      </p:sp>
      <p:sp>
        <p:nvSpPr>
          <p:cNvPr id="47" name="Text 43"/>
          <p:cNvSpPr txBox="1"/>
          <p:nvPr/>
        </p:nvSpPr>
        <p:spPr>
          <a:xfrm>
            <a:off x="5420258" y="534924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720 万美元（2 艘）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8097317" y="1417320"/>
            <a:ext cx="3545738" cy="4434840"/>
          </a:xfrm>
          <a:prstGeom prst="roundRect">
            <a:avLst>
              <a:gd name="adj" fmla="val 20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9" name="illus-ultramax" descr="img/bulk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69986" y="1554480"/>
            <a:ext cx="3200400" cy="906629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8325917" y="256032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63,500 DWT Ultramax</a:t>
            </a:r>
            <a:endParaRPr lang="en-US" sz="1500" dirty="0"/>
          </a:p>
        </p:txBody>
      </p:sp>
      <p:sp>
        <p:nvSpPr>
          <p:cNvPr id="51" name="Text 46"/>
          <p:cNvSpPr txBox="1"/>
          <p:nvPr/>
        </p:nvSpPr>
        <p:spPr>
          <a:xfrm>
            <a:off x="8325917" y="290779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BSI 63K 标准船型，单船收益最高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8325917" y="329184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8325917" y="32918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对标</a:t>
            </a:r>
            <a:endParaRPr lang="en-US" sz="1050" dirty="0"/>
          </a:p>
        </p:txBody>
      </p:sp>
      <p:sp>
        <p:nvSpPr>
          <p:cNvPr id="54" name="Text 49"/>
          <p:cNvSpPr txBox="1"/>
          <p:nvPr/>
        </p:nvSpPr>
        <p:spPr>
          <a:xfrm>
            <a:off x="9194597" y="329184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Baltic BSI63 标准船</a:t>
            </a:r>
            <a:endParaRPr lang="en-US" sz="1100" dirty="0"/>
          </a:p>
        </p:txBody>
      </p:sp>
      <p:sp>
        <p:nvSpPr>
          <p:cNvPr id="55" name="Shape 50"/>
          <p:cNvSpPr/>
          <p:nvPr/>
        </p:nvSpPr>
        <p:spPr>
          <a:xfrm>
            <a:off x="8325917" y="370332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8325917" y="37033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数量</a:t>
            </a:r>
            <a:endParaRPr lang="en-US" sz="1050" dirty="0"/>
          </a:p>
        </p:txBody>
      </p:sp>
      <p:sp>
        <p:nvSpPr>
          <p:cNvPr id="57" name="Text 52"/>
          <p:cNvSpPr txBox="1"/>
          <p:nvPr/>
        </p:nvSpPr>
        <p:spPr>
          <a:xfrm>
            <a:off x="9194597" y="370332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 艘</a:t>
            </a:r>
            <a:endParaRPr lang="en-US" sz="1100" dirty="0"/>
          </a:p>
        </p:txBody>
      </p:sp>
      <p:sp>
        <p:nvSpPr>
          <p:cNvPr id="58" name="Shape 53"/>
          <p:cNvSpPr/>
          <p:nvPr/>
        </p:nvSpPr>
        <p:spPr>
          <a:xfrm>
            <a:off x="8325917" y="411480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8325917" y="41148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单船造价</a:t>
            </a:r>
            <a:endParaRPr lang="en-US" sz="1050" dirty="0"/>
          </a:p>
        </p:txBody>
      </p:sp>
      <p:sp>
        <p:nvSpPr>
          <p:cNvPr id="60" name="Text 55"/>
          <p:cNvSpPr txBox="1"/>
          <p:nvPr/>
        </p:nvSpPr>
        <p:spPr>
          <a:xfrm>
            <a:off x="9194597" y="411480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3,350 万美元（约 2.24 亿元）</a:t>
            </a:r>
            <a:endParaRPr lang="en-US" sz="1100" dirty="0"/>
          </a:p>
        </p:txBody>
      </p:sp>
      <p:sp>
        <p:nvSpPr>
          <p:cNvPr id="61" name="Shape 56"/>
          <p:cNvSpPr/>
          <p:nvPr/>
        </p:nvSpPr>
        <p:spPr>
          <a:xfrm>
            <a:off x="8325917" y="452628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8325917" y="45262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租约</a:t>
            </a:r>
            <a:endParaRPr lang="en-US" sz="1050" dirty="0"/>
          </a:p>
        </p:txBody>
      </p:sp>
      <p:sp>
        <p:nvSpPr>
          <p:cNvPr id="63" name="Text 58"/>
          <p:cNvSpPr txBox="1"/>
          <p:nvPr/>
        </p:nvSpPr>
        <p:spPr>
          <a:xfrm>
            <a:off x="9194597" y="452628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期租 8 年 · 15,000 美元/日</a:t>
            </a:r>
            <a:endParaRPr lang="en-US" sz="1100" dirty="0"/>
          </a:p>
        </p:txBody>
      </p:sp>
      <p:sp>
        <p:nvSpPr>
          <p:cNvPr id="64" name="Shape 59"/>
          <p:cNvSpPr/>
          <p:nvPr/>
        </p:nvSpPr>
        <p:spPr>
          <a:xfrm>
            <a:off x="8325917" y="493776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65" name="Text 60"/>
          <p:cNvSpPr txBox="1"/>
          <p:nvPr/>
        </p:nvSpPr>
        <p:spPr>
          <a:xfrm>
            <a:off x="8325917" y="4937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残值回购</a:t>
            </a:r>
            <a:endParaRPr lang="en-US" sz="1050" dirty="0"/>
          </a:p>
        </p:txBody>
      </p:sp>
      <p:sp>
        <p:nvSpPr>
          <p:cNvPr id="66" name="Text 61"/>
          <p:cNvSpPr txBox="1"/>
          <p:nvPr/>
        </p:nvSpPr>
        <p:spPr>
          <a:xfrm>
            <a:off x="9194597" y="493776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第 8 年 · 2,345 万美元（70%）</a:t>
            </a:r>
            <a:endParaRPr lang="en-US" sz="1100" dirty="0"/>
          </a:p>
        </p:txBody>
      </p:sp>
      <p:sp>
        <p:nvSpPr>
          <p:cNvPr id="67" name="Shape 62"/>
          <p:cNvSpPr/>
          <p:nvPr/>
        </p:nvSpPr>
        <p:spPr>
          <a:xfrm>
            <a:off x="8325917" y="5349240"/>
            <a:ext cx="3088538" cy="0"/>
          </a:xfrm>
          <a:prstGeom prst="line">
            <a:avLst/>
          </a:prstGeom>
          <a:noFill/>
          <a:ln w="9525">
            <a:solidFill>
              <a:srgbClr val="DDE2EA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8325917" y="53492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年净收益</a:t>
            </a:r>
            <a:endParaRPr lang="en-US" sz="1050" dirty="0"/>
          </a:p>
        </p:txBody>
      </p:sp>
      <p:sp>
        <p:nvSpPr>
          <p:cNvPr id="69" name="Text 64"/>
          <p:cNvSpPr txBox="1"/>
          <p:nvPr/>
        </p:nvSpPr>
        <p:spPr>
          <a:xfrm>
            <a:off x="9194597" y="5349240"/>
            <a:ext cx="2219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540 万美元</a:t>
            </a:r>
            <a:endParaRPr lang="en-US" sz="1100" dirty="0"/>
          </a:p>
        </p:txBody>
      </p:sp>
      <p:sp>
        <p:nvSpPr>
          <p:cNvPr id="70" name="Text 65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chemeClr val="accent4"/>
                </a:solidFill>
              </a:rPr>
              <a:t>五艘船在同一家船厂批量建造，共用供应链和交付排期，摊薄单船成本。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  船型与供应链 · 关键参数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MPP 甲板装储能柜、舱内装散杂货；Ultramax 为 5 舱 5 口标准散货船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431536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785616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参数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14,000 DWT 双甲板 MPP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总长 / 型宽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约 120 m / 21.7 m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载重吨 / 总吨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约 13,860 t / 9,970 GT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舱容 / 集装箱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约 20,000 m³ / 86 TEU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主机 / 航速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MAN 7L32/40，3,150 kW / 12.5 kn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续航 / 船级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10,000 nm / CCS · 冰区 B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吊机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CSSC MacGregor 2 × 60t（组合 120t）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08776" y="1417320"/>
          <a:ext cx="5431536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785616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参数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63,500 DWT Ultramax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总长 / 型宽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约 199.98 m / 32.24 m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结构吃水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约 13.418 m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舱容（散装 / 包装）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约 80,500 / 76,200 m³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货舱 / 舱口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5 舱 5 口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吊机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4 × 30t，配抓斗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航速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约 14 kn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MPP 装载方案与合规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4681728"/>
            <a:ext cx="2636444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1520" y="48463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496062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484632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甲板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731520" y="534924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储能柜 ESS（UN 3536），按 SW1/SW2 积载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367964" y="4681728"/>
            <a:ext cx="2636444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3550844" y="48463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144" y="496062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145204" y="484632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舱内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3550844" y="534924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散货、件杂货、大件设备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187288" y="4681728"/>
            <a:ext cx="2636444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370168" y="48463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468" y="4960620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64528" y="484632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吊机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6370168" y="534924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电动液压双吊，能量回收 + 同步联动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9006611" y="4681728"/>
            <a:ext cx="2636444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89491" y="48463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791" y="4960620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783851" y="484632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合规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9189491" y="534924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满足 IMDG 42-24 甲板布置要求</a:t>
            </a:r>
            <a:endParaRPr lang="en-US" sz="105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4"/>
                </a:solidFill>
              </a:rPr>
              <a:t>来源：SDARI 14K MPV INFORMATION；CSSC MacGregor TGL/GL 资料；S11TC Dashboard（2026-09-23）；Baltic Exchange BSI63 标准船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  船型与供应链 · 建造与设计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信海船舶承建，SDARI 和佳豪按船型分工做详细设计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3093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62763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辽宁信海船舶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1"/>
                </a:solidFill>
              </a:rPr>
              <a:t>葫芦岛龙港 · 法人李红伟 · 与本项目排他合作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主做 5 万 DWT 以下的重吊船、MPP、散货船、集装箱船、油轮和滚装船，自有物流港和造船产业链，PSPC 涂层，CCS 入级。国内唯一有该型船建造经验、并已交付多艘同型船的船厂。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3474720"/>
            <a:ext cx="18105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35844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5,000 万元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40690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注册资本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70632" y="3474720"/>
            <a:ext cx="18105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80360" y="35844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约 80 万 m²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880360" y="40690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占地面积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18304" y="3474720"/>
            <a:ext cx="18105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28032" y="35844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约 22 亿元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28032" y="40690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固定资产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22960" y="4617720"/>
            <a:ext cx="18105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" y="47274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10 万 + 5 万吨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32688" y="52120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船台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70632" y="4617720"/>
            <a:ext cx="18105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880360" y="47274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200t + 18 台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880360" y="52120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龙门吊 + 起重机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18304" y="4617720"/>
            <a:ext cx="18105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28032" y="47274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约 5 万吨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828032" y="52120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年钢材加工量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086600" y="1417320"/>
            <a:ext cx="4553712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69480" y="160020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210" y="1725930"/>
            <a:ext cx="251460" cy="25146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955280" y="15544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SDARI · 14,000 DWT MPP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上海船舶研究设计院，1964 年成立，隶属中船集团，累计开发 1,200 余型船，国内规模最大的民船设计院之一。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7086600" y="2935224"/>
            <a:ext cx="4553712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269480" y="3118104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210" y="3243834"/>
            <a:ext cx="251460" cy="25146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7955280" y="3072384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上海佳豪 · 45,000 DWT Handymax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2001 年成立，创业板首家船舶科技类上市公司（300008），持甲级设计和监理资质。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7086600" y="4453128"/>
            <a:ext cx="4553712" cy="1389888"/>
          </a:xfrm>
          <a:prstGeom prst="roundRect">
            <a:avLst>
              <a:gd name="adj" fmla="val 5263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269480" y="46360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210" y="4761738"/>
            <a:ext cx="251460" cy="25146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7955280" y="4590288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关键设备已落实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CSSC MacGregor 优先供应 120t 电动液压双吊和舱盖；信海已为本项目预留 MAN 主机。眼下主机一机难求，这一条很关键。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  船型与供应链 · 租家与经纪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租家：信风海运优先接船，四家国际租家在谈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06240" cy="4434840"/>
          </a:xfrm>
          <a:prstGeom prst="roundRect">
            <a:avLst>
              <a:gd name="adj" fmla="val 173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6276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信风海运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1"/>
                </a:solidFill>
              </a:rPr>
              <a:t>首选租家 · 优先交付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4400" b="1" dirty="0">
                <a:solidFill>
                  <a:schemeClr val="accent1"/>
                </a:solidFill>
              </a:rPr>
              <a:t>6 / 7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9D3E6"/>
                </a:solidFill>
              </a:rPr>
              <a:t>在建 7 艘船中有 6 艘是 14,000 DWT 同型船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9319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chemeClr val="bg1"/>
                </a:solidFill>
              </a:rPr>
              <a:t>5A 级物流企业，船队约 25 艘，法人刘兴华。已与信海船舶协商，本项目船舶优先交付。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983480" y="1417320"/>
            <a:ext cx="3214116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12080" y="1581912"/>
            <a:ext cx="27569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Oldendorff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accent1"/>
                </a:solidFill>
              </a:rPr>
              <a:t>德国 · 1921 年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全球最大的干散货承运商之一：约 700–780 艘船、6,500 万 DWT，年运货约 4 亿吨，ECO 船队。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426196" y="1417320"/>
            <a:ext cx="3214116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54796" y="1581912"/>
            <a:ext cx="27569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SMT Shipping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accent1"/>
                </a:solidFill>
              </a:rPr>
              <a:t>塞浦路斯 · 1990 年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Anthonius Voorham 创立，家族控股，专做自卸船以及水泥、骨料运输。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83480" y="3246120"/>
            <a:ext cx="3214116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2080" y="3410712"/>
            <a:ext cx="27569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TMC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accent1"/>
                </a:solidFill>
              </a:rPr>
              <a:t>迪拜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干散货与油轮运营。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426196" y="3246120"/>
            <a:ext cx="3214116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54796" y="3410712"/>
            <a:ext cx="27569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Transatlantica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accent1"/>
                </a:solidFill>
              </a:rPr>
              <a:t>新加坡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大宗商品贸易加租船运营，既可能是租家，也可能是货源方。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983480" y="5120640"/>
            <a:ext cx="6656832" cy="731520"/>
          </a:xfrm>
          <a:prstGeom prst="roundRect">
            <a:avLst>
              <a:gd name="adj" fmla="val 10000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12080" y="512064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合作经纪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Lightship（日内瓦，1975）· S&amp;C（德国 Jork）· Fortuna Shipbrokers · Eurocharts（西班牙）· Rocca（意大利）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  船型与供应链 · 交付节奏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2026 年签约，2028 年交付即起租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2606040"/>
            <a:ext cx="9966960" cy="0"/>
          </a:xfrm>
          <a:prstGeom prst="line">
            <a:avLst/>
          </a:prstGeom>
          <a:noFill/>
          <a:ln w="31750">
            <a:solidFill>
              <a:srgbClr val="C5CC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459736"/>
            <a:ext cx="292608" cy="292608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2026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签约 · 设立 SPV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3101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付款 20%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42716" y="2459736"/>
            <a:ext cx="292608" cy="292608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9174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2027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49174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开工 · 铺龙骨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40380" y="33101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0380" y="33101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付款 40%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34456" y="2459736"/>
            <a:ext cx="292608" cy="292608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8348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2027 年底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首船下水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26196" y="2459736"/>
            <a:ext cx="292608" cy="292608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7522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2028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7522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舾装 · 试航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853928" y="2395728"/>
            <a:ext cx="420624" cy="420624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6696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2028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96696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交付 · 起租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515600" y="33101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0" y="33101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付款 40%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3545738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3159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453128"/>
            <a:ext cx="274320" cy="274320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463040" y="4315968"/>
            <a:ext cx="244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优先交付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498348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信风与信海已协商，本项目船舶优先交付，缩短等船时间，交付即产生租金。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322978" y="4114800"/>
            <a:ext cx="3545738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51578" y="4315968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4453128"/>
            <a:ext cx="274320" cy="27432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237378" y="4315968"/>
            <a:ext cx="244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股权绑定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4551578" y="498348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经理人股权的 50% 在交付后才解锁，交付进度直接决定经理人收益。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8097317" y="4114800"/>
            <a:ext cx="3545738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325917" y="4315968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77" y="4453128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9011717" y="4315968"/>
            <a:ext cx="244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资金释放</a:t>
            </a:r>
            <a:endParaRPr lang="en-US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8325917" y="498348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监管账户按里程碑放款：签约约 1.56 亿、铺龙骨约 3.12 亿、交付约 3.12 亿元。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  商业模式与竞争 · 收入与退出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收入靠租金，退出靠残值回购：五船年净收益约 1,548 万美元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4023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417320"/>
          <a:ext cx="68397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1828800"/>
                <a:gridCol w="18105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船型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模式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日净收益（预估）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年净收益（预估）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MPP（2 艘）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光租 8 年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4,000 美元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288 万美元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Handymax（2 艘）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期租 7 年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10,000 美元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720 万美元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Ultramax（1 艘）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期租 8 年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15,000 美元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</a:rPr>
                        <a:t>540 万美元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合计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1,548 万美元</a:t>
                      </a:r>
                      <a:endParaRPr lang="en-US" sz="11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8006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退出：残值回购（预估）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800600" y="3931920"/>
            <a:ext cx="215798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983480" y="4041648"/>
            <a:ext cx="1792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 7 年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Handymax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2,100 万美元/艘，或由租家行使购买权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141464" y="3931920"/>
            <a:ext cx="215798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24344" y="4041648"/>
            <a:ext cx="1792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 8 年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MPP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895 万美元/艘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482328" y="3931920"/>
            <a:ext cx="2157984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665208" y="4041648"/>
            <a:ext cx="1792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 8 年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Ultramax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2,345 万美元（造价的 70%）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800600" y="5440680"/>
            <a:ext cx="683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chemeClr val="accent4"/>
                </a:solidFill>
              </a:rPr>
              <a:t>回购款先还清对应船舶的债务，余额按 4:4:92 分给股东。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  商业模式与竞争 · 扩张路径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扩张路径：先用 MPP 和散货打底，再进入油轮和浮式数据中心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4630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63840" y="2084832"/>
            <a:ext cx="0" cy="777240"/>
          </a:xfrm>
          <a:prstGeom prst="line">
            <a:avLst/>
          </a:prstGeom>
          <a:noFill/>
          <a:ln w="19050">
            <a:solidFill>
              <a:srgbClr val="C5CCD8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8366760" y="1444752"/>
            <a:ext cx="3273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打底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MPP 提供稳定现金流；散货船（参考 S11TC/BSI 63K）提高杠杆收益。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89520" y="2926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863840" y="3547872"/>
            <a:ext cx="0" cy="777240"/>
          </a:xfrm>
          <a:prstGeom prst="line">
            <a:avLst/>
          </a:prstGeom>
          <a:noFill/>
          <a:ln w="19050">
            <a:solidFill>
              <a:srgbClr val="C5CCD8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366760" y="2907792"/>
            <a:ext cx="3273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加速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小型油轮和浮式数据中心风险更高，对应的预期收益也更高。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589520" y="438912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4370832"/>
            <a:ext cx="3273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滚动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残值回购收回的资金再投入新船，单个项目的退出变成船队平台的持续增长。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5760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chemeClr val="accent4"/>
                </a:solidFill>
              </a:rPr>
              <a:t>图中均为预估股权 IRR，后两类为远期方向。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  商业模式与竞争 · 资产与团队比较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与房产、存单相比，船舶能直接接入全球美元融资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143000"/>
                <a:gridCol w="1325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指标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船舶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房产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存单 / 国债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抵押成数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高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高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高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估值与登记标准化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高（全球船级 / 登记）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中高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高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抵押物能否升值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能（二手船价）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能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不能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持有期现金流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正（租金）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正（租金）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正（利息）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417320"/>
          <a:ext cx="491947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496312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维度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本项目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纯国内船务团队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资产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新加坡 SPV + 国际船旗 + 美元计价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境内资产，人民币计价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现金流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美元光租 / 期租，境外可穿透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人民币内循环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租家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信风优先交付 + Oldendorff 等四家国际租家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单一国内租家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订单链路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德国、塞浦路斯、迪拜租家 + 全球供应商与经纪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以国内为主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206240"/>
            <a:ext cx="11094415" cy="164592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68680" y="4709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4869180"/>
            <a:ext cx="320040" cy="3200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783080" y="4343400"/>
            <a:ext cx="95399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船舶的独特之处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普通投资者买得起，又能在全球范围内抵押融资的美元资产，船舶几乎是唯一一类。存单和国债只能押在境内，船舶可以向海外银行借美元，可用的资金池大得多。房产是最接近的替代品，但门槛更高、政策约束更多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  财务与估值 · 测算口径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测算口径：年净收益 1,548 万美元，资产端毛收益率约 13.3%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0861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703070"/>
            <a:ext cx="20574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0020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船队造价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03120"/>
            <a:ext cx="27203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MPP 2 × 1,300 万 + Handymax 2 × 2,850 万 + Ultramax 1 × 3,350 万美元，合计 11,650 万美元（约 7.81 亿元）。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863340" y="1417320"/>
            <a:ext cx="30861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46220" y="1600200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090" y="17030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4860" y="160020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年收入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046220" y="2103120"/>
            <a:ext cx="27203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按 360 天/年：MPP 4,000 × 2 = 288 万，Handymax 10,000 × 2 = 720 万，Ultramax 15,000 × 1 = 540 万美元。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30861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303270"/>
            <a:ext cx="205740" cy="2057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20040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融资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3703320"/>
            <a:ext cx="27203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60% LTV：债务约 4.68 亿元（6%、10 年等额本息，年本息约 949.7 万美元）；股权约 3.12 亿元。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863340" y="3017520"/>
            <a:ext cx="30861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046220" y="3200400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090" y="3303270"/>
            <a:ext cx="205740" cy="2057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594860" y="320040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基准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046220" y="3703320"/>
            <a:ext cx="27203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运价与 OPEX 以 Baltic Exchange Guide V8.7 为准；2028 年交付即运营；1 美元 ≈ 6.7 元。</a:t>
            </a:r>
            <a:endParaRPr lang="en-US" sz="10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7223760" y="1371600"/>
          <a:ext cx="441655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hape 18"/>
          <p:cNvSpPr/>
          <p:nvPr/>
        </p:nvSpPr>
        <p:spPr>
          <a:xfrm>
            <a:off x="548640" y="480060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731520" y="4873752"/>
            <a:ext cx="18531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15.52%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5376672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9D3E6"/>
                </a:solidFill>
              </a:rPr>
              <a:t>股权 IRR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2950403" y="4873752"/>
            <a:ext cx="18531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10.66%</a:t>
            </a:r>
            <a:endParaRPr lang="en-US" sz="2200" dirty="0"/>
          </a:p>
        </p:txBody>
      </p:sp>
      <p:sp>
        <p:nvSpPr>
          <p:cNvPr id="29" name="Text 22"/>
          <p:cNvSpPr txBox="1"/>
          <p:nvPr/>
        </p:nvSpPr>
        <p:spPr>
          <a:xfrm>
            <a:off x="2858963" y="5376672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9D3E6"/>
                </a:solidFill>
              </a:rPr>
              <a:t>全款 IRR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5169286" y="4873752"/>
            <a:ext cx="18531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2.30x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5077846" y="5376672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9D3E6"/>
                </a:solidFill>
              </a:rPr>
              <a:t>MOIC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7388169" y="4873752"/>
            <a:ext cx="18531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12.8%</a:t>
            </a:r>
            <a:endParaRPr lang="en-US" sz="2200" dirty="0"/>
          </a:p>
        </p:txBody>
      </p:sp>
      <p:sp>
        <p:nvSpPr>
          <p:cNvPr id="33" name="Text 26"/>
          <p:cNvSpPr txBox="1"/>
          <p:nvPr/>
        </p:nvSpPr>
        <p:spPr>
          <a:xfrm>
            <a:off x="7296729" y="5376672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9D3E6"/>
                </a:solidFill>
              </a:rPr>
              <a:t>稳定期股权现金收益率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9607052" y="4873752"/>
            <a:ext cx="18531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第 7 年</a:t>
            </a:r>
            <a:endParaRPr lang="en-US" sz="2200" dirty="0"/>
          </a:p>
        </p:txBody>
      </p:sp>
      <p:sp>
        <p:nvSpPr>
          <p:cNvPr id="35" name="Text 28"/>
          <p:cNvSpPr txBox="1"/>
          <p:nvPr/>
        </p:nvSpPr>
        <p:spPr>
          <a:xfrm>
            <a:off x="9515612" y="5376672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9D3E6"/>
                </a:solidFill>
              </a:rPr>
              <a:t>累计现金流转正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  财务与估值 · 股权现金流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经营期每年约 598 万美元，第 7 年残值回购后累计现金流转正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累计 Y6 末约 −1,070 → Y7 末约 +2,486 → Y8 末约 +6,075</a:t>
            </a:r>
            <a:endParaRPr lang="en-US" sz="105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7772400" y="1371600"/>
          <a:ext cx="3867912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18120" y="397764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总回收约 10,735 万美元：经营现金流约 4,531 万（42.2%），残值回购净额约 6,204 万（57.8%）。Ultramax 加入后经营现金流占比提高，对回购的依赖下降。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772400" y="5166360"/>
            <a:ext cx="386791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955280" y="51663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Y7 叠加 Handymax 残值净额约 2,958 万；Y8 叠加 MPP 与 Ultramax 回购。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4"/>
                </a:solidFill>
              </a:rPr>
              <a:t>利润表要点：经营净收益 Y1–Y7 每年 1,548 万、Y8 828 万；利息随本金减少逐年下降；Y7、Y8 处置损益为非现金项目；所得税暂按 0（新加坡海事激励，以最终结构为准）。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  财务与估值 · 情景与敏感性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三种情景下股权 IRR 在 13.07%–19.46% 之间，DSCR 均高于 1.2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0408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三情景 DSCR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040880" y="1783080"/>
            <a:ext cx="141122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69480" y="1947672"/>
            <a:ext cx="95402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</a:rPr>
              <a:t>1.50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2435047"/>
            <a:ext cx="95402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Downside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34984" y="1783080"/>
            <a:ext cx="1411224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63584" y="1947672"/>
            <a:ext cx="95402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chemeClr val="bg1"/>
                </a:solidFill>
              </a:rPr>
              <a:t>1.63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8863584" y="2435047"/>
            <a:ext cx="95402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7DDE8"/>
                </a:solidFill>
              </a:rPr>
              <a:t>Base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229088" y="1783080"/>
            <a:ext cx="141122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57688" y="1947672"/>
            <a:ext cx="95402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</a:rPr>
              <a:t>1.84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10457688" y="2435047"/>
            <a:ext cx="95402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Upside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3063240"/>
            <a:ext cx="4599432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694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敏感性区间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269480" y="3566160"/>
            <a:ext cx="4160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运价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Handymax 9,000–11,000、Ultramax 13,500–16,500、MPP 4,000–5,000 美元/日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利率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5%–7% 区间内，DSCR 均保持在 1.4 以上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回本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Base 情景第 7 年累计现金流转正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航线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以稳定航线测算，结果波动收窄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  财务与估值 · 估值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估值：NAV 4,660 万美元是底价，DCF 约 6,105 万美元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估值桥（万美元，Ke = 10%）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6035040" cy="0"/>
          </a:xfrm>
          <a:prstGeom prst="line">
            <a:avLst/>
          </a:prstGeom>
          <a:noFill/>
          <a:ln w="12700">
            <a:solidFill>
              <a:srgbClr val="C5CC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48840"/>
            <a:ext cx="868680" cy="3108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562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11,650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3309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船舶资产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83080" y="2148840"/>
            <a:ext cx="338328" cy="0"/>
          </a:xfrm>
          <a:prstGeom prst="line">
            <a:avLst/>
          </a:prstGeom>
          <a:noFill/>
          <a:ln w="9525">
            <a:solidFill>
              <a:srgbClr val="8A94A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121408" y="2148840"/>
            <a:ext cx="868680" cy="1865376"/>
          </a:xfrm>
          <a:prstGeom prst="rect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38528" y="18562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−6,990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38528" y="53309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净负债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90088" y="4014216"/>
            <a:ext cx="338328" cy="0"/>
          </a:xfrm>
          <a:prstGeom prst="line">
            <a:avLst/>
          </a:prstGeom>
          <a:noFill/>
          <a:ln w="9525">
            <a:solidFill>
              <a:srgbClr val="8A94A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328416" y="4014216"/>
            <a:ext cx="868680" cy="124358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45536" y="3721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4,660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145536" y="53309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股权 NAV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97096" y="4014216"/>
            <a:ext cx="338328" cy="0"/>
          </a:xfrm>
          <a:prstGeom prst="line">
            <a:avLst/>
          </a:prstGeom>
          <a:noFill/>
          <a:ln w="9525">
            <a:solidFill>
              <a:srgbClr val="8A94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35424" y="3628652"/>
            <a:ext cx="868680" cy="385564"/>
          </a:xfrm>
          <a:prstGeom prst="rect">
            <a:avLst/>
          </a:prstGeom>
          <a:solidFill>
            <a:srgbClr val="F3A66B"/>
          </a:solidFill>
          <a:ln w="12700">
            <a:solidFill>
              <a:srgbClr val="F3A6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52544" y="33360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+1,445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352544" y="53309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预估租约溢价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04104" y="3628652"/>
            <a:ext cx="338328" cy="0"/>
          </a:xfrm>
          <a:prstGeom prst="line">
            <a:avLst/>
          </a:prstGeom>
          <a:noFill/>
          <a:ln w="9525">
            <a:solidFill>
              <a:srgbClr val="8A94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742432" y="3628652"/>
            <a:ext cx="868680" cy="1629148"/>
          </a:xfrm>
          <a:prstGeom prst="rect">
            <a:avLst/>
          </a:prstGeom>
          <a:solidFill>
            <a:srgbClr val="E87B2F"/>
          </a:solidFill>
          <a:ln w="12700">
            <a:solidFill>
              <a:srgbClr val="E87B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59552" y="33360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6,105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559552" y="53309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DCF 股权价值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60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DCF 较股权投入溢价约 31%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23760" y="1417320"/>
            <a:ext cx="441655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06640" y="15087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NAV · 底价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船舶资产 11,650 − 净负债 6,990 = 4,660 万美元，正好等于股权投入。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23760" y="2697480"/>
            <a:ext cx="4416552" cy="1783080"/>
          </a:xfrm>
          <a:prstGeom prst="roundRect">
            <a:avLst>
              <a:gd name="adj" fmla="val 4103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06640" y="27889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DCF · 主锚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Ke 10%（乐观）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6,105 万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+31%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Ke 12%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5,518 万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0" y="3566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+18%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40664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Ke 15%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4,774 万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0" y="3977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+2%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23760" y="4617720"/>
            <a:ext cx="441655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06640" y="470916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可比 · 交叉验证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散货船东 P/B 约 0.5–0.9 倍（低于 NAV）；本项目对应 1.0–1.15 倍，溢价来自预估租约和新造船。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  财务与估值 · 分配与退出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投资人投入 4,287 万美元，预计回收 9,876 万美元，MOIC 2.30 倍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961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Y1–Y6 每年约 550 万来自经营现金流；Y7、Y8 主要来自残值回购。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086600" y="1417320"/>
            <a:ext cx="4553712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69480" y="153619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经理人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徐浩铮、彭飞扬各 4%：对价各 186 万美元，预计各回收约 429 万，倍数同为 2.30 倍。按 4:4:92 同比例分配。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086600" y="3017520"/>
            <a:ext cx="45537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69480" y="3200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210" y="33261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955280" y="315468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主路径：残值回购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Handymax 第 7 年、MPP 和 Ultramax 第 8 年回购，先还清债务再分配给股东，第 8 年末全部退出。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086600" y="4480560"/>
            <a:ext cx="45537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269480" y="46634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210" y="478917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955280" y="461772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辅助路径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运营期内转让份额（按 NAV / DCF 定价）、股权清算，或把回购资金滚动投入新船。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06  偿债与风险 · DSCR 压力测试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45K 运价要跌 57% 才会触及 1.2 的 DSCR 门槛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417320"/>
            <a:ext cx="4050792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508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1,548 ÷ 949.7 = 1.63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1031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9D3E6"/>
                </a:solidFill>
              </a:rPr>
              <a:t>Base DSCR = 经营净收益 ÷ 年本息（万美元）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926080"/>
            <a:ext cx="4050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4,330 美元/日（−57%）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45K 跌到这里才触及 1.2 门槛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1,690 美元/日（−83%）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现金盈亏平衡点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589520" y="4160520"/>
            <a:ext cx="4050792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担保结构</a:t>
            </a:r>
            <a:endParaRPr lang="en-US" sz="12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28432" y="45902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船舶第一顺位抵押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466344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48672" y="45902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租约收益权质押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5056632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28432" y="4983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保险权益转让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5056632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948672" y="4983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SPV 股权质押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5449824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028432" y="53766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租金账户监管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06  偿债与风险 · LTV 与残值覆盖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债务逐年摊还，第 8 年末净负债归零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417320"/>
            <a:ext cx="4050792" cy="1417320"/>
          </a:xfrm>
          <a:prstGeom prst="roundRect">
            <a:avLst>
              <a:gd name="adj" fmla="val 5161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4813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3200" b="1" dirty="0">
                <a:solidFill>
                  <a:schemeClr val="accent1"/>
                </a:solidFill>
              </a:rPr>
              <a:t>3.38x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Handymax 第 7 年残值 ÷ 对应剩余债务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89520" y="2971800"/>
            <a:ext cx="405079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30358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3200" b="1" dirty="0">
                <a:solidFill>
                  <a:schemeClr val="tx1"/>
                </a:solidFill>
              </a:rPr>
              <a:t>&gt; 4x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MPP 与 Ultramax 第 8 年残值 ÷ 对应剩余债务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4572000"/>
            <a:ext cx="4050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第 7 年 Handymax 回购款结清其债务；第 8 年 MPP、Ultramax 回购结清剩余债务。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残值即使下调，仍足以还清对应债务，气球款风险可控。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06  偿债与风险 · 风险矩阵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六类主要风险及应对措施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5738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45920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市场运价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58568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MPP 光租锁定租金；多家租家分散风险；可用 FFA 对冲；走稳定航线。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2978" y="1417320"/>
            <a:ext cx="3545738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1578" y="164592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308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91658" y="1645920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规则变化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51578" y="2258568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新造船满足 EEXI/CII、压载水、MARPOL；储能柜按 IMDG 42-24 甲板积载；预留改造空间。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97317" y="1417320"/>
            <a:ext cx="3545738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5917" y="164592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647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65997" y="1645920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建造延期 / 超支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25917" y="2258568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固定总价、按里程碑付款、延期赔偿、船厂保函；经理人股权与交付绑定。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200400"/>
            <a:ext cx="3545738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355473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3429000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运营成本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041648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OPEX 按 Baltic 附录四口径测算；签管理协议，足额投保，留备用金。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2978" y="3200400"/>
            <a:ext cx="3545738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1578" y="342900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308" y="355473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91658" y="3429000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汇率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51578" y="4041648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造船合同约定汇率；运营收支都以美元计；必要时远期结汇。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97317" y="3200400"/>
            <a:ext cx="3545738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25917" y="342900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647" y="355473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65997" y="3429000"/>
            <a:ext cx="2494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租家信用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25917" y="4041648"/>
            <a:ext cx="30885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信风优先交付；租家多元化；信用审查；收预付款或保证金；租金账户监管。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5029200"/>
            <a:ext cx="11094415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77240" y="51846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" y="5310378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463040" y="5029200"/>
            <a:ext cx="9951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</a:rPr>
              <a:t>压力情景 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45K 运价要跌到约 1,690 美元/日（−83%）才到现金盈亏平衡。标准 downside 下偿债后每年仍有结余，DSRA 与租金储备可覆盖多年极端缺口。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07  治理与交易结构 · 治理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经理人管运营，投资人管重大事项，收益同比例分配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3474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720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股本约 3.12 亿元。经理人 8% 为受限股权，按签约 / 下水 / 交付解锁；投资人 92% 以人民币 ODI 出资，待募集。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297680" y="1417320"/>
            <a:ext cx="365760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480560" y="1554480"/>
            <a:ext cx="3291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日常运营 · 经理人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担任管理人 / 执行事务方，负责租约执行、船厂与租家协调、船舶运营。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0" y="361188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80560" y="3749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重大事项 · 股东会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出售船舶、变更船旗、大额举债、预算、分红、更换管理人，需股东会特别决议（≥ 2/3），投资人另有一票否决权。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分配顺序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0" y="1783080"/>
            <a:ext cx="3410712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1   偿还债务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934956" y="2423160"/>
            <a:ext cx="0" cy="228600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229600" y="2651760"/>
            <a:ext cx="3410712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0" y="2651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2   补足 DSRA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934956" y="3291840"/>
            <a:ext cx="0" cy="228600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229600" y="3520440"/>
            <a:ext cx="3410712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0" y="3520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3   支付管理费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934956" y="4160520"/>
            <a:ext cx="0" cy="228600"/>
          </a:xfrm>
          <a:prstGeom prst="line">
            <a:avLst/>
          </a:prstGeom>
          <a:noFill/>
          <a:ln w="15875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229600" y="4389120"/>
            <a:ext cx="3410712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0" y="4389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4   股东按 4:4:92 分配（含回购净额）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5349240"/>
            <a:ext cx="3410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经理人与投资人同比例分配，MOIC 均约 2.30 倍，不设超额 carry。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07  治理与交易结构 · 互信条款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交易结构：资金、担保、合同、治理四层约束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03120" cy="9875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46504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17320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资金层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51760" y="1417320"/>
            <a:ext cx="4572000" cy="987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80360" y="1417320"/>
            <a:ext cx="4206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约 7.81 亿元全部进入监管账户，按里程碑释放，专款专用。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532888"/>
            <a:ext cx="2103120" cy="9875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86207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2532888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担保物权层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651760" y="2532888"/>
            <a:ext cx="4572000" cy="987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880360" y="2532888"/>
            <a:ext cx="4206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船舶抵押、租约质押、保险权益转让、SPV 股权质押。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48456"/>
            <a:ext cx="2103120" cy="9875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7764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3648456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合同权利层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2651760" y="3648456"/>
            <a:ext cx="4572000" cy="987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880360" y="3648456"/>
            <a:ext cx="4206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造船价、租约、残值回购三项核心预估，以合同条款落实。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764024"/>
            <a:ext cx="2103120" cy="9875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09320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4764024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治理控制层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2651760" y="4764024"/>
            <a:ext cx="4572000" cy="987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2880360" y="4764024"/>
            <a:ext cx="4206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股权按交付解锁、投资人否决权、DSRA 偿债储备、DSCR 契约。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498080" y="1417320"/>
            <a:ext cx="4142232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680960" y="1554480"/>
            <a:ext cx="377647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合作模式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主模式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经理人与投资人通过新加坡 SPV 合资共持，共享租金和残值。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备选（45K）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期租合同给租家第 7 年按 2,100 万美元/艘的购买权；租家不行使，由回购方按同价回购。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498080" y="4297680"/>
            <a:ext cx="4142232" cy="1691640"/>
          </a:xfrm>
          <a:prstGeom prst="roundRect">
            <a:avLst>
              <a:gd name="adj" fmla="val 4324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680960" y="4434840"/>
            <a:ext cx="3776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交割：锁定账户（Locked box）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造价与残值预估在交割时锁定，配套“无价值泄漏”承诺，减少交割争议。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07  治理与交易结构 · 尽调准备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尽调准备：FDD 三个核心问题都有现成答案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5738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QoE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9D3E6"/>
                </a:solidFill>
              </a:rPr>
              <a:t>盈利质量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08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可持续净收益 = 预估租金（MPP 4,000、Handymax 10,000、Ultramax 15,000 美元/日），剔除一次性费用。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2978" y="1417320"/>
            <a:ext cx="354573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1578" y="155448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Net Debt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51578" y="205740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净负债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51578" y="2423160"/>
            <a:ext cx="308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6,990 万美元债务逐船、逐年拆分，由残值回购结清，无表外融资。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7317" y="1417320"/>
            <a:ext cx="354573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5917" y="155448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NWC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325917" y="205740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营运资本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325917" y="2423160"/>
            <a:ext cx="308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航运营运资本占用小：租金月结，DSO 约 30 天，NWC Peg 约 0–1 个月租金。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资料清单（三批）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21031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423410"/>
            <a:ext cx="251460" cy="2514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417320" y="4297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账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4937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银行流水、出资凭证、收租记录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834640" y="4114800"/>
            <a:ext cx="21031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63240" y="4297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970" y="4423410"/>
            <a:ext cx="251460" cy="2514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703320" y="4297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单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3063240" y="4937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造船、租约、融资、保险合同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120640" y="4114800"/>
            <a:ext cx="21031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349240" y="4297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970" y="4423410"/>
            <a:ext cx="251460" cy="25146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989320" y="4297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解释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5349240" y="4937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资本化处理、关联交易、回购机制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7452360" y="3749040"/>
            <a:ext cx="4187952" cy="2103120"/>
          </a:xfrm>
          <a:prstGeom prst="roundRect">
            <a:avLst>
              <a:gd name="adj" fmla="val 3478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635240" y="3858768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十步走对照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团队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徐浩铮、彭飞扬，国际化背景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赛道与模式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MPP + 储能柜；光租 + 期租 + 残值回购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指标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年净收益约 1,548 万美元，股权 IRR 15.52%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结构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股权 4:4:92，客户与供应商结构清晰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附录 · 关键数据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关键参数与回报汇总</a:t>
            </a:r>
            <a:endParaRPr lang="en-US" sz="2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72968"/>
                <a:gridCol w="2377440"/>
                <a:gridCol w="3166567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指标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数值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指标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数值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总造价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约 7.81 亿元人民币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股权 IRR（预估）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15.52%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债务 / 股权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4.68 亿 / 3.12 亿元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全款 IRR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10.66%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年净收益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约 1,548 万美元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MOIC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2.30 倍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年本息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约 949.7 万美元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稳定期 DSCR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1.63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残值回购合计（预估）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约 8,335 万美元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累计现金流转正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第 7 年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DSCR 三情景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1.50 / 1.63 / 1.84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IRR 三情景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13.07% / 15.52% / 19.46%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LTV 初始 → 期末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60% → 0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DCF 股权价值（Ke = 10%）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6,105 万美元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accent4"/>
                </a:solidFill>
              </a:rPr>
              <a:t>口径：以上均为预估；60% LTV，6%、10 年等额本息，每年 360 天；汇率 1 美元 ≈ 6.7 元人民币；运价基准 Baltic Exchange Guide V8.7。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737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4400" b="1" dirty="0">
                <a:solidFill>
                  <a:schemeClr val="bg1"/>
                </a:solidFill>
              </a:rPr>
              <a:t>谢谢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697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1"/>
                </a:solidFill>
              </a:rPr>
              <a:t>徐浩铮 · 彭飞扬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9D3E6"/>
                </a:solidFill>
              </a:rPr>
              <a:t>本材料中的造价、租金、残值及回报数据均为预估，仅供讨论，不构成要约或收益承诺。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time Navy">
  <a:themeElements>
    <a:clrScheme name="Maritime Navy">
      <a:dk1>
        <a:srgbClr val="1F2A44"/>
      </a:dk1>
      <a:lt1>
        <a:srgbClr val="FFFFFF"/>
      </a:lt1>
      <a:dk2>
        <a:srgbClr val="3A4458"/>
      </a:dk2>
      <a:lt2>
        <a:srgbClr val="F2F4F7"/>
      </a:lt2>
      <a:accent1>
        <a:srgbClr val="E87B2F"/>
      </a:accent1>
      <a:accent2>
        <a:srgbClr val="2E5FA3"/>
      </a:accent2>
      <a:accent3>
        <a:srgbClr val="1F2A44"/>
      </a:accent3>
      <a:accent4>
        <a:srgbClr val="8A94A6"/>
      </a:accent4>
      <a:accent5>
        <a:srgbClr val="6E8FC4"/>
      </a:accent5>
      <a:accent6>
        <a:srgbClr val="2E7D32"/>
      </a:accent6>
      <a:hlink>
        <a:srgbClr val="2E5FA3"/>
      </a:hlink>
      <a:folHlink>
        <a:srgbClr val="6E8FC4"/>
      </a:folHlink>
    </a:clrScheme>
    <a:fontScheme name="Maritime Navy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五船船队融资商业计划书</dc:title>
  <dc:subject>PptxGenJS Presentation</dc:subject>
  <dc:creator>徐浩铮 · 彭飞扬</dc:creator>
  <cp:lastModifiedBy>徐浩铮 · 彭飞扬</cp:lastModifiedBy>
  <cp:revision>1</cp:revision>
  <dcterms:created xsi:type="dcterms:W3CDTF">2026-10-02T08:07:49Z</dcterms:created>
  <dcterms:modified xsi:type="dcterms:W3CDTF">2026-10-02T08:07:49Z</dcterms:modified>
</cp:coreProperties>
</file>